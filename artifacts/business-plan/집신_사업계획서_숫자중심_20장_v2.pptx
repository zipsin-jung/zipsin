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7958a6dac44307" /><Relationship Type="http://schemas.openxmlformats.org/officeDocument/2006/relationships/extended-properties" Target="/docProps/app.xml" Id="Rc93d38c363c24826" /><Relationship Type="http://schemas.openxmlformats.org/officeDocument/2006/relationships/officeDocument" Target="/ppt/presentation.xml" Id="Rb89e62e5c6bd4d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d3bce6c5864fe3"/>
  </p:sldMasterIdLst>
  <p:notesMasterIdLst>
    <p:notesMasterId xmlns:r="http://schemas.openxmlformats.org/officeDocument/2006/relationships" r:id="R03077fbe46894d3e"/>
  </p:notesMasterIdLst>
  <p:sldIdLst>
    <p:sldId xmlns:r="http://schemas.openxmlformats.org/officeDocument/2006/relationships" id="256" r:id="R87906b9120464944"/>
    <p:sldId xmlns:r="http://schemas.openxmlformats.org/officeDocument/2006/relationships" id="257" r:id="R0ff6a3c9f14a471b"/>
    <p:sldId xmlns:r="http://schemas.openxmlformats.org/officeDocument/2006/relationships" id="258" r:id="Rd7118a137b57434f"/>
    <p:sldId xmlns:r="http://schemas.openxmlformats.org/officeDocument/2006/relationships" id="259" r:id="R43be8aedcfcb4871"/>
    <p:sldId xmlns:r="http://schemas.openxmlformats.org/officeDocument/2006/relationships" id="260" r:id="R7818f9d03c8a452f"/>
    <p:sldId xmlns:r="http://schemas.openxmlformats.org/officeDocument/2006/relationships" id="261" r:id="R3633275df76346d9"/>
    <p:sldId xmlns:r="http://schemas.openxmlformats.org/officeDocument/2006/relationships" id="262" r:id="R8315c04f81f14e95"/>
    <p:sldId xmlns:r="http://schemas.openxmlformats.org/officeDocument/2006/relationships" id="263" r:id="Raff2ef81dd50478f"/>
    <p:sldId xmlns:r="http://schemas.openxmlformats.org/officeDocument/2006/relationships" id="264" r:id="Rf0a8bb7df20342d5"/>
    <p:sldId xmlns:r="http://schemas.openxmlformats.org/officeDocument/2006/relationships" id="265" r:id="R25ead55637f34c03"/>
    <p:sldId xmlns:r="http://schemas.openxmlformats.org/officeDocument/2006/relationships" id="266" r:id="R0d703b31e2404402"/>
    <p:sldId xmlns:r="http://schemas.openxmlformats.org/officeDocument/2006/relationships" id="267" r:id="R3923f7e6f5b041d9"/>
    <p:sldId xmlns:r="http://schemas.openxmlformats.org/officeDocument/2006/relationships" id="268" r:id="R9922a3f584614f35"/>
    <p:sldId xmlns:r="http://schemas.openxmlformats.org/officeDocument/2006/relationships" id="269" r:id="R3fe62379e23548a6"/>
    <p:sldId xmlns:r="http://schemas.openxmlformats.org/officeDocument/2006/relationships" id="270" r:id="R4f7a065cc8d24081"/>
    <p:sldId xmlns:r="http://schemas.openxmlformats.org/officeDocument/2006/relationships" id="271" r:id="Rda3c27f105aa48ed"/>
    <p:sldId xmlns:r="http://schemas.openxmlformats.org/officeDocument/2006/relationships" id="272" r:id="R7774af5dc5884072"/>
    <p:sldId xmlns:r="http://schemas.openxmlformats.org/officeDocument/2006/relationships" id="273" r:id="R1dbfc7120f4244e2"/>
    <p:sldId xmlns:r="http://schemas.openxmlformats.org/officeDocument/2006/relationships" id="274" r:id="Rc69d3173fa574518"/>
    <p:sldId xmlns:r="http://schemas.openxmlformats.org/officeDocument/2006/relationships" id="275" r:id="Rdf724921a3fd4b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fb3d77fef7496d" /><Relationship Type="http://schemas.openxmlformats.org/officeDocument/2006/relationships/slideMaster" Target="/ppt/slideMasters/slideMaster1.xml" Id="Rd3d3bce6c5864fe3" /><Relationship Type="http://schemas.openxmlformats.org/officeDocument/2006/relationships/notesMaster" Target="/ppt/notesMasters/notesMaster1.xml" Id="R03077fbe46894d3e" /><Relationship Type="http://schemas.openxmlformats.org/officeDocument/2006/relationships/presProps" Target="/ppt/presProps.xml" Id="R9ebb3078578c41c9" /><Relationship Type="http://schemas.openxmlformats.org/officeDocument/2006/relationships/tableStyles" Target="/ppt/tableStyles.xml" Id="R82c59e69896d4de5" /><Relationship Type="http://schemas.openxmlformats.org/officeDocument/2006/relationships/slide" Target="/ppt/slides/slide1.xml" Id="R87906b9120464944" /><Relationship Type="http://schemas.openxmlformats.org/officeDocument/2006/relationships/slide" Target="/ppt/slides/slide2.xml" Id="R0ff6a3c9f14a471b" /><Relationship Type="http://schemas.openxmlformats.org/officeDocument/2006/relationships/slide" Target="/ppt/slides/slide3.xml" Id="Rd7118a137b57434f" /><Relationship Type="http://schemas.openxmlformats.org/officeDocument/2006/relationships/slide" Target="/ppt/slides/slide4.xml" Id="R43be8aedcfcb4871" /><Relationship Type="http://schemas.openxmlformats.org/officeDocument/2006/relationships/slide" Target="/ppt/slides/slide5.xml" Id="R7818f9d03c8a452f" /><Relationship Type="http://schemas.openxmlformats.org/officeDocument/2006/relationships/slide" Target="/ppt/slides/slide6.xml" Id="R3633275df76346d9" /><Relationship Type="http://schemas.openxmlformats.org/officeDocument/2006/relationships/slide" Target="/ppt/slides/slide7.xml" Id="R8315c04f81f14e95" /><Relationship Type="http://schemas.openxmlformats.org/officeDocument/2006/relationships/slide" Target="/ppt/slides/slide8.xml" Id="Raff2ef81dd50478f" /><Relationship Type="http://schemas.openxmlformats.org/officeDocument/2006/relationships/slide" Target="/ppt/slides/slide9.xml" Id="Rf0a8bb7df20342d5" /><Relationship Type="http://schemas.openxmlformats.org/officeDocument/2006/relationships/slide" Target="/ppt/slides/slide10.xml" Id="R25ead55637f34c03" /><Relationship Type="http://schemas.openxmlformats.org/officeDocument/2006/relationships/slide" Target="/ppt/slides/slide11.xml" Id="R0d703b31e2404402" /><Relationship Type="http://schemas.openxmlformats.org/officeDocument/2006/relationships/slide" Target="/ppt/slides/slide12.xml" Id="R3923f7e6f5b041d9" /><Relationship Type="http://schemas.openxmlformats.org/officeDocument/2006/relationships/slide" Target="/ppt/slides/slide13.xml" Id="R9922a3f584614f35" /><Relationship Type="http://schemas.openxmlformats.org/officeDocument/2006/relationships/slide" Target="/ppt/slides/slide14.xml" Id="R3fe62379e23548a6" /><Relationship Type="http://schemas.openxmlformats.org/officeDocument/2006/relationships/slide" Target="/ppt/slides/slide15.xml" Id="R4f7a065cc8d24081" /><Relationship Type="http://schemas.openxmlformats.org/officeDocument/2006/relationships/slide" Target="/ppt/slides/slide16.xml" Id="Rda3c27f105aa48ed" /><Relationship Type="http://schemas.openxmlformats.org/officeDocument/2006/relationships/slide" Target="/ppt/slides/slide17.xml" Id="R7774af5dc5884072" /><Relationship Type="http://schemas.openxmlformats.org/officeDocument/2006/relationships/slide" Target="/ppt/slides/slide18.xml" Id="R1dbfc7120f4244e2" /><Relationship Type="http://schemas.openxmlformats.org/officeDocument/2006/relationships/slide" Target="/ppt/slides/slide19.xml" Id="Rc69d3173fa574518" /><Relationship Type="http://schemas.openxmlformats.org/officeDocument/2006/relationships/slide" Target="/ppt/slides/slide20.xml" Id="Rdf724921a3fd4b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4cfd2e9b4842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9b9732e2464b9a" /><Relationship Type="http://schemas.openxmlformats.org/officeDocument/2006/relationships/notesMaster" Target="/ppt/notesMasters/notesMaster1.xml" Id="R6fc196dd39a645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2c38cfd1d44184" /><Relationship Type="http://schemas.openxmlformats.org/officeDocument/2006/relationships/notesMaster" Target="/ppt/notesMasters/notesMaster1.xml" Id="R96ef43481cad4e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f17ac84d78475d" /><Relationship Type="http://schemas.openxmlformats.org/officeDocument/2006/relationships/notesMaster" Target="/ppt/notesMasters/notesMaster1.xml" Id="Ref4090656cf848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b2f93cc0494405" /><Relationship Type="http://schemas.openxmlformats.org/officeDocument/2006/relationships/notesMaster" Target="/ppt/notesMasters/notesMaster1.xml" Id="R17347381e7784c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49e486ede54639" /><Relationship Type="http://schemas.openxmlformats.org/officeDocument/2006/relationships/notesMaster" Target="/ppt/notesMasters/notesMaster1.xml" Id="R64f64d619c1142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707cdf4d504f59" /><Relationship Type="http://schemas.openxmlformats.org/officeDocument/2006/relationships/notesMaster" Target="/ppt/notesMasters/notesMaster1.xml" Id="R78c374ec74a04e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10894660cb48ae" /><Relationship Type="http://schemas.openxmlformats.org/officeDocument/2006/relationships/notesMaster" Target="/ppt/notesMasters/notesMaster1.xml" Id="R8d241995274f4e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25cd8fdee24ede" /><Relationship Type="http://schemas.openxmlformats.org/officeDocument/2006/relationships/notesMaster" Target="/ppt/notesMasters/notesMaster1.xml" Id="R2269dbbed4af40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a4d4685ce54f91" /><Relationship Type="http://schemas.openxmlformats.org/officeDocument/2006/relationships/notesMaster" Target="/ppt/notesMasters/notesMaster1.xml" Id="Rc237f4490fcf43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a2dd29144d4834" /><Relationship Type="http://schemas.openxmlformats.org/officeDocument/2006/relationships/notesMaster" Target="/ppt/notesMasters/notesMaster1.xml" Id="R9c3adaa386344e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794986f9014650" /><Relationship Type="http://schemas.openxmlformats.org/officeDocument/2006/relationships/notesMaster" Target="/ppt/notesMasters/notesMaster1.xml" Id="Re3b9a1eab04e4c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462510804241ba" /><Relationship Type="http://schemas.openxmlformats.org/officeDocument/2006/relationships/notesMaster" Target="/ppt/notesMasters/notesMaster1.xml" Id="R1e92a510e48046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294ddedb27434d" /><Relationship Type="http://schemas.openxmlformats.org/officeDocument/2006/relationships/notesMaster" Target="/ppt/notesMasters/notesMaster1.xml" Id="R76d75b02585e42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0ca7c0c14b415d" /><Relationship Type="http://schemas.openxmlformats.org/officeDocument/2006/relationships/notesMaster" Target="/ppt/notesMasters/notesMaster1.xml" Id="R266536738d6a43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df7cf4d6c04bfb" /><Relationship Type="http://schemas.openxmlformats.org/officeDocument/2006/relationships/notesMaster" Target="/ppt/notesMasters/notesMaster1.xml" Id="Rd93eb2a03fd548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81e8ddba3f456c" /><Relationship Type="http://schemas.openxmlformats.org/officeDocument/2006/relationships/notesMaster" Target="/ppt/notesMasters/notesMaster1.xml" Id="R7f35369f28224cf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ee6622b94444a0" /><Relationship Type="http://schemas.openxmlformats.org/officeDocument/2006/relationships/notesMaster" Target="/ppt/notesMasters/notesMaster1.xml" Id="R50cd822895c443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4071712f0dd4995" /><Relationship Type="http://schemas.openxmlformats.org/officeDocument/2006/relationships/notesMaster" Target="/ppt/notesMasters/notesMaster1.xml" Id="Rf2114201d00246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a9a77db3cd46a3" /><Relationship Type="http://schemas.openxmlformats.org/officeDocument/2006/relationships/notesMaster" Target="/ppt/notesMasters/notesMaster1.xml" Id="R9791f065ae1f46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c9292d903684bd1" /><Relationship Type="http://schemas.openxmlformats.org/officeDocument/2006/relationships/notesMaster" Target="/ppt/notesMasters/notesMaster1.xml" Id="R8cc13a47b64a41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확인되지 않은 조사 퍼센트 대신 제품이 해결하는 구조를 숫자로 요약했습니다.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관리 방식의 분산 구조를 정리했습니다.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절감 수치는 아직 없습니다. 베타에서 기준값과 사용 후 값을 측정합니다.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공인중개사무소, 임대인, 임차인의 현재 관리 방식을 비교했습니다.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사용자별 가치와 도입 부담을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집키는 사용자가 외우는 비밀번호가 아니라 내부 연결 기준입니다.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Before/After의 효과는 유료 베타에서 측정합니다.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UI는 방향 시안입니다. 수리기사는 작업 참여자이며 핵심 결제 고객은 공인중개사무소입니다.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세부 권한과 보존 정책은 상세 설계에서 확정합니다.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포지셔닝은 1차 가설이며 경쟁사 최신 조사가 필요합니다.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사무소당 50채는 목표 가정이며 실제 평균이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절감과 비용 가치는 베타에서 측정합니다.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월 99,000원은 랜딩페이지의 예상 가격이며 실제 결제 전 확정할 수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단순 산식이며 실제 매출이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중복 없는 주택 1,000채는 목표이며 현재 실적이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지표 후보는 월간 기존 기록을 다음 업무에서 다시 활용한 집 수입니다.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퍼널 수치는 아직 없으며 실제 모집에서 기록합니다.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단위경제 비용은 아직 확인되지 않았습니다.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확장 순서는 초기 수익모델 검증 후 결정합니다.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실행 일정은 현재 날짜와 개발 범위를 반영해 사용자 승인 후 확정합니다.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/Users/zipsin/Desktop/집신.pdf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1b32d19fcb44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66d38f225a4262" /><Relationship Type="http://schemas.openxmlformats.org/officeDocument/2006/relationships/slideLayout" Target="/ppt/slideLayouts/slideLayout1.xml" Id="R402eb14d852640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2eb14d852640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53dad44cb45ab" /><Relationship Type="http://schemas.openxmlformats.org/officeDocument/2006/relationships/image" Target="/ppt/media/image.jpeg" Id="Raca419bdbd654938" /><Relationship Type="http://schemas.openxmlformats.org/officeDocument/2006/relationships/notesSlide" Target="/ppt/notesSlides/notesSlide1.xml" Id="Rdf3238ea618143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28ad45a324c4a" /><Relationship Type="http://schemas.openxmlformats.org/officeDocument/2006/relationships/notesSlide" Target="/ppt/notesSlides/notesSlide2.xml" Id="Rb5781c6196d949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c41e3070641b3" /><Relationship Type="http://schemas.openxmlformats.org/officeDocument/2006/relationships/notesSlide" Target="/ppt/notesSlides/notesSlide3.xml" Id="Ra05ccb2e6f304f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ef1e923dd4de9" /><Relationship Type="http://schemas.openxmlformats.org/officeDocument/2006/relationships/notesSlide" Target="/ppt/notesSlides/notesSlide4.xml" Id="R539581e699c94c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6973ffa1c4420" /><Relationship Type="http://schemas.openxmlformats.org/officeDocument/2006/relationships/notesSlide" Target="/ppt/notesSlides/notesSlide5.xml" Id="R7a70515732e642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b391c06d34eaf" /><Relationship Type="http://schemas.openxmlformats.org/officeDocument/2006/relationships/notesSlide" Target="/ppt/notesSlides/notesSlide6.xml" Id="R7f7e9ea2ed0645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1b6cc1df646bc" /><Relationship Type="http://schemas.openxmlformats.org/officeDocument/2006/relationships/notesSlide" Target="/ppt/notesSlides/notesSlide7.xml" Id="R1cd0331f07d149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cc7ffc58b4270" /><Relationship Type="http://schemas.openxmlformats.org/officeDocument/2006/relationships/image" Target="/ppt/media/image.png" Id="Rf494a7c5b342409a" /><Relationship Type="http://schemas.openxmlformats.org/officeDocument/2006/relationships/notesSlide" Target="/ppt/notesSlides/notesSlide8.xml" Id="Rb2176421363648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aea6c884b4af8" /><Relationship Type="http://schemas.openxmlformats.org/officeDocument/2006/relationships/notesSlide" Target="/ppt/notesSlides/notesSlide9.xml" Id="R87df38ae21a34e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f9c595fcb47f3" /><Relationship Type="http://schemas.openxmlformats.org/officeDocument/2006/relationships/notesSlide" Target="/ppt/notesSlides/notesSlide10.xml" Id="R74221e1367b74b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60c4c48b24792" /><Relationship Type="http://schemas.openxmlformats.org/officeDocument/2006/relationships/notesSlide" Target="/ppt/notesSlides/notesSlide11.xml" Id="R2cd94cbd8e5f4e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193026f474ea3" /><Relationship Type="http://schemas.openxmlformats.org/officeDocument/2006/relationships/notesSlide" Target="/ppt/notesSlides/notesSlide12.xml" Id="Re489f66e713d44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9a4c75add488c" /><Relationship Type="http://schemas.openxmlformats.org/officeDocument/2006/relationships/notesSlide" Target="/ppt/notesSlides/notesSlide13.xml" Id="R61c1662888be4d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81c69ca65429f" /><Relationship Type="http://schemas.openxmlformats.org/officeDocument/2006/relationships/chart" Target="/ppt/slides/charts/chart1.xml" Id="R00d3c2dd321d444a" /><Relationship Type="http://schemas.openxmlformats.org/officeDocument/2006/relationships/notesSlide" Target="/ppt/notesSlides/notesSlide14.xml" Id="Rfd5c665df8ce4c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df133eee14e8e" /><Relationship Type="http://schemas.openxmlformats.org/officeDocument/2006/relationships/chart" Target="/ppt/slides/charts/chart2.xml" Id="Rfd8063969ee84864" /><Relationship Type="http://schemas.openxmlformats.org/officeDocument/2006/relationships/notesSlide" Target="/ppt/notesSlides/notesSlide15.xml" Id="Rd5935c92d70041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32942f8a948aa" /><Relationship Type="http://schemas.openxmlformats.org/officeDocument/2006/relationships/notesSlide" Target="/ppt/notesSlides/notesSlide16.xml" Id="Rb904d40118984a3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91bb698c8417e" /><Relationship Type="http://schemas.openxmlformats.org/officeDocument/2006/relationships/notesSlide" Target="/ppt/notesSlides/notesSlide17.xml" Id="Re6bf051311d6402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e0657ba734481" /><Relationship Type="http://schemas.openxmlformats.org/officeDocument/2006/relationships/notesSlide" Target="/ppt/notesSlides/notesSlide18.xml" Id="Ra9e0e7ffe98c45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7029c52634e2f" /><Relationship Type="http://schemas.openxmlformats.org/officeDocument/2006/relationships/notesSlide" Target="/ppt/notesSlides/notesSlide19.xml" Id="Rde522a492a2a497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1bb81e47a4bfa" /><Relationship Type="http://schemas.openxmlformats.org/officeDocument/2006/relationships/notesSlide" Target="/ppt/notesSlides/notesSlide20.xml" Id="Rbfd58b38e76a454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월 구독매출(만원)</c:v>
          </c:tx>
          <c:spPr>
            <a:solidFill xmlns:a="http://schemas.openxmlformats.org/drawingml/2006/main">
              <a:srgbClr val="17634E"/>
            </a:solidFill>
          </c:spPr>
          <c:cat>
            <c:strRef>
              <c:f>'Chart Data'!$A$2:$A$5</c:f>
              <c:strCache>
                <c:ptCount val="4"/>
                <c:pt idx="0">
                  <c:v>5곳</c:v>
                </c:pt>
                <c:pt idx="1">
                  <c:v>10곳</c:v>
                </c:pt>
                <c:pt idx="2">
                  <c:v>20곳</c:v>
                </c:pt>
                <c:pt idx="3">
                  <c:v>50곳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49.5</c:v>
                </c:pt>
                <c:pt idx="1">
                  <c:v>99</c:v>
                </c:pt>
                <c:pt idx="2">
                  <c:v>198</c:v>
                </c:pt>
                <c:pt idx="3">
                  <c:v>495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등록 주택 목표</c:v>
          </c:tx>
          <c:spPr>
            <a:solidFill xmlns:a="http://schemas.openxmlformats.org/drawingml/2006/main">
              <a:srgbClr val="C79538"/>
            </a:solidFill>
          </c:spPr>
          <c:cat>
            <c:strRef>
              <c:f>'Chart Data'!$A$2:$A$5</c:f>
              <c:strCache>
                <c:ptCount val="4"/>
                <c:pt idx="0">
                  <c:v>1곳</c:v>
                </c:pt>
                <c:pt idx="1">
                  <c:v>5곳</c:v>
                </c:pt>
                <c:pt idx="2">
                  <c:v>10곳</c:v>
                </c:pt>
                <c:pt idx="3">
                  <c:v>20곳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50</c:v>
                </c:pt>
                <c:pt idx="1">
                  <c:v>250</c:v>
                </c:pt>
                <c:pt idx="2">
                  <c:v>500</c:v>
                </c:pt>
                <c:pt idx="3">
                  <c:v>1000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419bdbd654938"/>
          <a:stretch xmlns:a="http://schemas.openxmlformats.org/drawingml/2006/main"/>
        </p:blipFill>
        <p:spPr>
          <a:xfrm xmlns:a="http://schemas.openxmlformats.org/drawingml/2006/main">
            <a:off x="609600" y="381414"/>
            <a:ext cx="590550" cy="51352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B2F21-8543-40C4-B591-832DC8CB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한 집의 기록은 많지만</a:t>
            </a:r>
          </a:p>
          <a:p xmlns:a="http://schemas.openxmlformats.org/drawingml/2006/main">
            <a:pPr algn="l">
              <a:defRPr sz="315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전체 이력을 보는 곳은 없습니다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71499-1C8C-45E4-8DBC-F025EB47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CF2F3-73A6-41B0-9780-CB9595CB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22DC0-946E-4FD3-842E-B50B4757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E4BD7-39C0-48DC-A69D-D39E5636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14625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8DD8C-A1C7-459A-8981-8F773E58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0512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B44AE-FE5B-48F2-965F-490C14F3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718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핵심 관계자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2E23A-9A16-4C9F-B250-CF9CCBE9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14625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D0E98-11EC-4082-BC5E-5EAD1579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0512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C0F47-12C9-4D3D-9F63-BB8A5138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718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흩어진 도구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B9339-FEF5-4419-8E40-855D1FEC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3E33"/>
          </a:solidFill>
          <a:ln xmlns:a="http://schemas.openxmlformats.org/drawingml/2006/main" w="9525">
            <a:solidFill>
              <a:srgbClr val="103E3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D96DA-3040-4D38-BBCC-0494AB2E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0512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7DE28-5C0C-4FEC-8526-C6F810C4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718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연결된 타임라인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23CEA-EEB2-4A39-B424-851042BE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3E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DF753-14EC-4B7C-A53D-F2B0C7DB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아하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F1E09-4428-495E-95DD-988B20A7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24425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문제는 기록 부족이 아니라 집을 기준으로 연결되지 않는 것입니다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EFD09-9B8F-460A-86D0-A33075D7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05500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구조 요약: 공인중개사·임대인·임차인 / 전화·메신저·사진첩·PC 폴더·종이 서류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F2A62B-3DCB-467E-A91A-437B9946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3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355E90-63FB-4D5F-9524-E6E4F5F5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사실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AFE3A4-83DA-4536-ACEB-CF835E7C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336168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9C5797-96A2-48D8-80C4-384947D0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54FC2-4F80-4CBE-9800-3FA59D84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한 집의 기록을 최소 다섯 가지 도구에서 관리합니다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D63C2-0B90-4215-8E7E-03115904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E5D2F-5F71-4128-AF17-E293D42A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52625" cy="2333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A500E-45F3-49D2-9A5F-FC115E79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4B70B-E71D-491A-80F5-436C0C9C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60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전화·문자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FC956-5FEA-4DAB-803D-3387F3E9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1609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요청과 진행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5B7AC-CA90-43BE-8F18-DF399A70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09750"/>
            <a:ext cx="1952625" cy="2333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0CC5B-22AC-46E1-80DA-777CE147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00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680AE-4C42-4CA3-907C-64DDDF89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76500"/>
            <a:ext cx="160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카카오톡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95BA6-F4E3-45F2-A820-1F176A31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95625"/>
            <a:ext cx="1609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관계자 대화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C5FBA-A904-45C3-AB18-73D7D2AD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1952625" cy="2333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FA3E2-E4D9-4458-8255-6328003A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C33F7-12F6-47D3-BE16-C96D6494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76500"/>
            <a:ext cx="160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사진첩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5EA51-ED9C-448C-A216-4EA86FBD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95625"/>
            <a:ext cx="1609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광고·입주·수리 사진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FE4F4-C32E-49D5-B02D-658FAA6A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09750"/>
            <a:ext cx="1952625" cy="2333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3260A-D85A-441A-99CB-F61AAB3A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0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1E085D-46EE-41CB-8040-4B74CB10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76500"/>
            <a:ext cx="160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PC 폴더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20186-87E8-4677-80C0-CAAA7AA7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95625"/>
            <a:ext cx="1609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계약서·영수증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2B25E-F261-45D5-8923-CC335DD2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1952625" cy="2333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103E33"/>
          </a:solidFill>
          <a:ln xmlns:a="http://schemas.openxmlformats.org/drawingml/2006/main" w="9525">
            <a:solidFill>
              <a:srgbClr val="103E3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87E3A-F212-4ECB-9744-3D374BD1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00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55403-9CDE-4EDA-BE76-FC4AE94A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76500"/>
            <a:ext cx="160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종이 서류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5B7E35-9FA4-4C72-931D-02F76297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95625"/>
            <a:ext cx="1609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계약·확인 자료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434D0-D9BA-4463-9815-AB5BFB69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도구마다 기록은 남지만 집별 전체 상태를 보여주는 곳은 없습니다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970D32-F1BF-4BA6-853C-F95B39EC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다음 질문  흩어진 기록이 실제 업무에서 만드는 반복은 무엇인가?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66DE03-309F-478A-BABD-55873DBB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34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9B0449-F14A-443A-AA26-7DB100AA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사실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D9806C-0FF8-4700-9301-A527EA16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4567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A15BB5-F651-4F5F-9092-E1AB40F3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HIDDEN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9ABAF-49D6-4BE0-857B-20711E4B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흩어진 기록은 검색·재확인·재방문을 반복시킵니다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1141C-1B13-4C64-ADE9-1DC984FE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37867-7D70-45A7-BEE4-415E08CD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905000" cy="809625"/>
          </a:xfrm>
          <a:prstGeom xmlns:a="http://schemas.openxmlformats.org/drawingml/2006/main" prst="roundRect">
            <a:avLst>
              <a:gd name="adj" fmla="val 21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1F34F-6FD9-405F-BFE7-3DCF5F5E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사진 검색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F6E0A-6E3A-4F76-A6C8-D36911C2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238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31093-DE06-4F85-AC6D-7023F39B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47875"/>
            <a:ext cx="1905000" cy="809625"/>
          </a:xfrm>
          <a:prstGeom xmlns:a="http://schemas.openxmlformats.org/drawingml/2006/main" prst="roundRect">
            <a:avLst>
              <a:gd name="adj" fmla="val 21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D62C5-11D8-4726-ADE1-F766DE31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860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관계자 연락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33087-A8F3-4649-9D28-2C10142B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38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17546-9859-4626-9D30-914CC0C9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47875"/>
            <a:ext cx="1905000" cy="809625"/>
          </a:xfrm>
          <a:prstGeom xmlns:a="http://schemas.openxmlformats.org/drawingml/2006/main" prst="roundRect">
            <a:avLst>
              <a:gd name="adj" fmla="val 21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1A17C-1BA3-459E-B006-0529127B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상태 재확인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182AE-5F07-4C5D-9FE0-FDCF3011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38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0B33D-6CDB-4E20-9452-DABF2D35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1905000" cy="809625"/>
          </a:xfrm>
          <a:prstGeom xmlns:a="http://schemas.openxmlformats.org/drawingml/2006/main" prst="roundRect">
            <a:avLst>
              <a:gd name="adj" fmla="val 21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58DA9-AC3F-4424-8B49-20464DFD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2860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자료 부족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6A9AC-782E-40E0-8A6B-A6B97059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38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2F1FE-E87B-4008-BB5B-1AE4A902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47875"/>
            <a:ext cx="1905000" cy="809625"/>
          </a:xfrm>
          <a:prstGeom xmlns:a="http://schemas.openxmlformats.org/drawingml/2006/main" prst="roundRect">
            <a:avLst>
              <a:gd name="adj" fmla="val 21176"/>
            </a:avLst>
          </a:prstGeom>
          <a:solidFill xmlns:a="http://schemas.openxmlformats.org/drawingml/2006/main">
            <a:srgbClr val="AA4A3D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0D5F3-1ED5-45E0-BBCA-5C8319B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860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현장 재방문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F8198-BD13-4A78-9BE2-4099E578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유료 베타에서 측정할 네 숫자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2E458-F1B8-41A4-A729-035E131B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4765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98910-8134-4671-ADF8-461BF922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91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측정 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9CD80-7769-476F-941D-EF9C5A7A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72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자료 검색 · 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4A067F-DFE0-4A09-BE14-8F23B4DF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0"/>
            <a:ext cx="24765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9DB2D-96FF-47DE-AF9F-569793A6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측정 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4408BF-290B-42C2-9655-EEFAEE98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72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반복 연락 · 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649D71-15C8-47D0-BC65-66DD6A72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00500"/>
            <a:ext cx="24765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D379EF-A5E5-4B64-A1A4-D041B0C6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91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측정 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23091-74A0-4A2D-8CD9-F3C46741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72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재방문 · 회/월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36182B-884C-47D7-8D84-3C88565A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00500"/>
            <a:ext cx="24765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BB51F0-8493-40A9-8D47-D7A78AD6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191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측정 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FC495F-DA16-4245-97D8-BB625406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572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인수인계 · 시간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03037B-A5CB-4C4E-B5ED-F8C3CECE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7687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26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26B36"/>
                </a:solidFill>
                <a:latin typeface="Helvetica Neue"/>
                <a:ea typeface="Helvetica Neue"/>
                <a:cs typeface="Helvetica Neue"/>
              </a:rPr>
              <a:t>시간과 비용 절감률은 현재 가설이며 실제 사용 전에는 단정하지 않습니다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554889-3E47-4407-AA72-294041B8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ADFC2D-075F-4529-9CD3-5684AEBB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7D1B3E-85A2-4834-812A-662E7926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50534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73FDF8-773D-4B9A-92BA-AF646829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USER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BDE05-FABF-421E-AD42-EAF0375E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세 사용자는 같은 집을 서로 다른 방식으로 관리합니다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937DF-44E9-4ECB-9622-F44CF409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AA0CF-22A9-4156-8626-597E51EE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구분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4CE08-C7B9-4A49-B25D-AD7F9CC4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859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공인중개사무소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C8CE3-009A-41D0-B331-09384B3B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859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임대인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E51AC-3467-4793-806B-12571AAF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859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임차인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CFC03-E565-4E95-B2F2-CFBADEBD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C54DD-D9CC-44DD-8E87-A765EBFA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현재 도구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E7286-D450-4F46-9E01-60B10AA7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098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개인폰·PC·종이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5AC36-1E0E-4601-BFAE-58BBB412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098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전화·사진첩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CA70F-C3DA-4D58-86C4-179D980D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098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사진첩·메신저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D3773-06F2-4D8B-A8AF-4B7CAB81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자주 찾는 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6FF8C-D5C2-4EF5-8C8C-0E600B1D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289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사진·연락처·진행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01B1F-7647-46AC-87A7-BED771E0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289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공실·수리·비용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3B796-CE76-4251-A379-03C302D4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289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입주상태·요청결과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B60AB-5BA3-4C8C-92C9-3BAC9294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53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0F2EB-1F3E-45DA-B3E8-4E24665B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반복 업무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8F72A-C9CE-4AD8-8862-4B033DE0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480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검색·전달·인수인계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784874-7D29-440B-8DCC-7B96C6FB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480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여러 곳에 같은 설명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FD203-73E2-4025-839C-DBFF829C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480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처리상태 재문의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30BEA-D897-4A6D-9517-8B56B1D3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단절 순간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5FBD7A-D738-4DF8-BDD1-EA5FD24B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671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직원·담당자 변경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47577C-8F39-44AA-B6D4-1BFED2D4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671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중개사 변경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27608-A40D-48DA-BBF1-F680192B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671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계약 종료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55AD31-AA6F-4B2A-A66F-4C84C108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53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7D96D3-9B44-4BB4-A189-08010567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핵심 손실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67B719-4F7C-403D-8A01-DD23F362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863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업무시간·누락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41CD1F-29E0-45C0-A1B4-9797FBAC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863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방문·확인 시간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B91715-8836-437A-B4F8-214057FC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863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불확실성·반복 문의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6C5CF6-5532-4CEF-8470-A6A54CC7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3E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8F50EA-4292-40F9-934D-E0EA30A7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같은 집을 보지만 사용하는 도구가 달라 서로 다른 정보를 갖게 됩니다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0399A1-1E14-4B5E-BEEB-6B88C8CA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34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286903-463C-43D7-A449-93231308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사실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50B092-4DD7-4070-B6B2-C3DC4B52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37250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9B39EA-5D1C-4138-B4C7-ADB3151E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VALUE AND FRICTION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75E3D-645D-4DAA-A175-25961998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세 사용자는 다른 비용을 줄이기 위해 집신을 사용합니다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2C368-5DCA-4A01-82E0-5AAEEF98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485B8-0B37-49D4-A63F-3046A07A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81375" cy="3429000"/>
          </a:xfrm>
          <a:prstGeom xmlns:a="http://schemas.openxmlformats.org/drawingml/2006/main" prst="roundRect">
            <a:avLst>
              <a:gd name="adj" fmla="val 50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F1D9F-3863-4530-B026-6CA50F3B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공인중개사무소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3D03A-EA06-4084-8FA0-3C1C0FCD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얻는 가치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FE016-3799-490D-8719-0C9248E3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2924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검색·인수인계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A7B13-DE20-4751-84FA-F2F1F895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4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A4A3D"/>
                </a:solidFill>
                <a:latin typeface="Helvetica Neue"/>
                <a:ea typeface="Helvetica Neue"/>
                <a:cs typeface="Helvetica Neue"/>
              </a:rPr>
              <a:t>도입 부담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B9FC9-9676-4E41-A615-6107905B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초기 등록·직원 교육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F60E4-C850-4328-9CBF-6B23C7A8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검증 숫자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56793-E4EE-450D-A185-9416BBD9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92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검색시간·재결제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78D09-4130-4627-890B-80A149A3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09750"/>
            <a:ext cx="3381375" cy="3429000"/>
          </a:xfrm>
          <a:prstGeom xmlns:a="http://schemas.openxmlformats.org/drawingml/2006/main" prst="roundRect">
            <a:avLst>
              <a:gd name="adj" fmla="val 50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70776-2EE4-46CA-9344-723CEB43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9550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임대인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861A6-7739-48F9-835B-E120099A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146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얻는 가치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05746-641F-4251-B76F-CD20656A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19425"/>
            <a:ext cx="2924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방문·반복 설명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BAC27-7F08-491D-9DD9-2C7ACDF7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195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4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A4A3D"/>
                </a:solidFill>
                <a:latin typeface="Helvetica Neue"/>
                <a:ea typeface="Helvetica Neue"/>
                <a:cs typeface="Helvetica Neue"/>
              </a:rPr>
              <a:t>도입 부담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DAB4F-0246-4CE9-8A5B-E090EDE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24300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본인확인·공개 불안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0A03F-7648-47A5-9AAB-B8932151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720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검증 숫자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DF320-F968-4324-AA94-EDDF615C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57750"/>
            <a:ext cx="292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초대수락·상태확인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3B488-00DE-48EB-844F-6129D585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381375" cy="3429000"/>
          </a:xfrm>
          <a:prstGeom xmlns:a="http://schemas.openxmlformats.org/drawingml/2006/main" prst="roundRect">
            <a:avLst>
              <a:gd name="adj" fmla="val 50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B1C92-76DB-493D-AC18-CD855307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임차인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7CDC54-8BEF-4434-BA27-5674F639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얻는 가치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6F6627-4502-432D-B3E5-65DA8B1A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19425"/>
            <a:ext cx="2924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반복 문의·누락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93E8EB-147A-4277-8615-A8E440E6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195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4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A4A3D"/>
                </a:solidFill>
                <a:latin typeface="Helvetica Neue"/>
                <a:ea typeface="Helvetica Neue"/>
                <a:cs typeface="Helvetica Neue"/>
              </a:rPr>
              <a:t>도입 부담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BC601-6978-4E02-ADD4-D1592230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24300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생활정보 공개 불안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65A0B-1A3E-4521-933C-A666671B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720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검증 숫자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02F30F-188D-403F-BDB4-3D356AF3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57750"/>
            <a:ext cx="292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등록률·완료확인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98121F-DA56-495E-B624-08826006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197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장점만큼 도입 부담도 함께 측정해야 실제 사용 가능성을 판단할 수 있습니다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278CCB-E9B6-4ED6-B836-E47A6D51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987E8D-1A46-4844-90DF-B8311367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4AA992-1A21-4BB4-AC41-67D074EC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4864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03018-44EF-4B51-B048-E8F5EA2A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HOUSE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0F18F-684D-4FEA-B697-FCBFD602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집키가 사진·사람·처리 상태의 공통 기준이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D0F8B-1628-4A6A-A246-899EFBB2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97445-82E6-4842-90F6-A79F34A6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524250" cy="1857375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103E3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9CE25-813A-4E0E-A99E-2F78D1CC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집키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8E959-B557-4A94-99BC-3F47B525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시스템 자동 생성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AD47D-D556-4164-BA9A-1A5E0FCB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238375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6BEB1-B0D1-4E00-9BBA-1A3A03E4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사진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74E18-A63A-4AB5-BF39-F7682B20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238375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1AD19-058C-4AC3-BB3E-90886BBA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수리 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9E738-B2FB-4DBA-A379-191ED37E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2238375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4D734-3FF0-4BC5-84FA-5B9BD761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관계자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6F78D-9A82-47C1-B105-219E91C8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0"/>
            <a:ext cx="2238375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71C20-E510-461D-A0B5-BD17ECF3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386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다음 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4C811-2AF5-4D27-9B29-64D69FF0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435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기록을 더 만드는 대신 이미 생기는 기록에 집의 주소표를 붙입니다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7CA97-5C60-4C5C-A11F-5D8833E6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716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48404-F8AF-467C-AA6C-7BB6EBFA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확정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E2037-C583-4500-B8BF-E80D3AA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670443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809434-04BC-4870-B2A8-5B9A60FD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BEFORE AND AFTER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61873-C841-450F-A675-25C5DAC8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다섯 번의 재확인이 하나의 집 타임라인으로 바뀝니다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6ED67-1A41-481A-8DBA-47978342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52524-FE78-424C-BD89-CC94408B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A4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AA4A3D"/>
                </a:solidFill>
                <a:latin typeface="Helvetica Neue"/>
                <a:ea typeface="Helvetica Neue"/>
                <a:cs typeface="Helvetica Neue"/>
              </a:rPr>
              <a:t>현재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4A55B-50B4-4DF3-BAAD-A0D7324D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952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03BC7-A77E-4515-9E4A-F0E0BC57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0507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검색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2D7B1-B56D-4135-9458-2FF1FE41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86000"/>
            <a:ext cx="1952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CA27C-FA20-4DA5-B055-447FC226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0507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다시 연락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75D6B-5ED7-4AB8-86AB-C3B736C1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86000"/>
            <a:ext cx="1952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B4F09-8506-4A5B-989A-D6E8E170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0507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상태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8A6BA-B0D7-40BE-9B34-3ED06AF6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86000"/>
            <a:ext cx="1952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D499F-B92D-4390-B90F-D8023B04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0507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사진 요청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073A9-88D3-46E1-837E-8E110EF9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86000"/>
            <a:ext cx="1952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36706-C751-4E81-9D03-D9FDD186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0507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별도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A3937-9F4E-4EA5-AB2D-FD1DF7B0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집신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0FB42-4A65-431B-A8A4-CFEC388F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952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68BB7-AFF6-41F5-BA81-249E065F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957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집 선택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1CF79-7CF2-4004-82B5-554A4778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000500"/>
            <a:ext cx="1952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F1BC2-D96D-4638-85A6-91E76183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1957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요청 등록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87BD4-449F-4F64-995E-C7B99129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00500"/>
            <a:ext cx="1952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45C980-66F0-4523-9F45-8115B7B6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1957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상태 공유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BFB46-4161-4618-A693-EA75E53D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00500"/>
            <a:ext cx="1952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DED5A6-FAAA-4BF1-AF76-F55E686B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1957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완료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0C7ED1-FC20-4D1F-957B-EEB26438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00500"/>
            <a:ext cx="1952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03E33"/>
          </a:solidFill>
          <a:ln xmlns:a="http://schemas.openxmlformats.org/drawingml/2006/main" w="9525">
            <a:solidFill>
              <a:srgbClr val="103E3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B9593-1B6C-48D7-B2C3-4959CB11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1957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다음에 재사용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19180A-B198-4B1C-98F8-15B7E21A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8162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측정: 처리시간 · 반복 연락 · 사진 누락 · 검색시간 · 기록 재사용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AC3790-EE00-4A01-9265-F7615E0C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E2164B-DC78-4272-B3AE-374AD8B0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65BD86-4398-4BBC-8052-C9075F91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12838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3E6083-0487-4C66-8F0D-BFEEB95A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46EB8-E561-47E4-B37A-5C62DD0E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첫 MVP는 기록 재사용을 확인하는 다섯 기능에 집중합니다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FF8DA-75E7-4BAF-81A1-9B40B1FE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4a7c5b342409a"/>
          <a:stretch xmlns:a="http://schemas.openxmlformats.org/drawingml/2006/main"/>
        </p:blipFill>
        <p:spPr>
          <a:xfrm xmlns:a="http://schemas.openxmlformats.org/drawingml/2006/main">
            <a:off x="571500" y="1678781"/>
            <a:ext cx="5048250" cy="37861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C26F9-4757-49DB-A9B5-4C0A3D2E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61962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66151-334A-4300-804B-15E321AF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D06C4-6DDC-4C0E-8B51-D15EE4A0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478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집 등록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E4DB2-4A7A-4780-A9A4-2FCC0A9F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61962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69271-7EC3-4230-86F7-8251DBB5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2890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59804-3EC5-458C-BA39-FFF9A743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관계자 초대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DEF25-AFBF-4EE1-9808-2FC58110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61962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14082-4968-491D-B2C6-C3B41027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CA2D6-A2C7-4468-AF56-F78307AB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718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권한 설정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F129B-CB56-4BBE-8284-3CC2F72F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61962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C905A-8A6E-4714-978B-EF50C28A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290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C69BF-1289-468D-88BC-210DC374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338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전후 사진·상태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6DC4C-6404-457A-B3C3-D4224572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61962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03E33"/>
          </a:solidFill>
          <a:ln xmlns:a="http://schemas.openxmlformats.org/drawingml/2006/main" w="9525">
            <a:solidFill>
              <a:srgbClr val="103E3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48800-3C86-4FB2-9AFE-73B995F9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32272-DA0F-45A6-825D-7C5254D7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958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이전 기록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4B396-8AFB-498E-A1A1-166F5210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6737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후속: OCR · 수리 중개 · 견적 비교 · 앱 결제 · AI 진단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37DCE-883D-404B-9476-D50A4168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14CFE8-73E5-451D-9E87-AE967B65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1BE691-1FCE-4591-AD61-630AA7B4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1276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9E4883-E3C8-4A39-BDA1-DF419FAC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50CAC-4BA4-465C-8BC9-C37E01AE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집의 이력은 이어져도 개인정보는 함께 넘어가지 않습니다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69A16-73E7-4529-A952-CDAE9B12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27437-89B3-4729-8853-F2B2C407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대표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D5F55-FE6B-444A-BC35-820F59C7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보조원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42ABD-942E-4F33-BDB6-8959E5C9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임대인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A9298-9086-4908-A05D-2E270E72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145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임차인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3304B-C9A0-4E17-9437-226CF59D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기사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6E07E-A8EF-4CD6-ADD0-A4F09B25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DE9C7-E756-436A-8C25-6ED5AD1F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사무소 전체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D0CA9-A02C-491C-B598-3239046B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9D742-3255-45C2-9ADF-A15E1B34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16323-1040-42B5-A31E-C8B09294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09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FB9DD-2B95-44EC-AE42-664CAA64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09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C778A-71F2-4F5D-B8A8-910935B9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6D10E-734A-4664-AADB-E93AE058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908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배정된 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C2022-62DA-47A1-8EC5-C0ED63E6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BDDE2-A29E-46F2-8B5C-E05A1D5F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F7855-6DAE-4E6E-8F82-B0FD8343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34C50D-C52A-41E7-A174-5F201B66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81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D3112-72FF-4B90-A34D-9D42E1FA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BC1DE8-C457-4573-810B-83ECDE32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53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EEC02E-A25C-4BE4-AB77-4602CCA9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현재 계약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2E674-CD40-4D97-B056-88A00639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E3F0CE-DC7E-4047-8011-AB819F8C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52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61DAF-67F4-47AB-8C64-91ACF6AF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52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D819C5-D016-45ED-BF98-D38CD27A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52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B4D01B-3975-48D3-BDD3-50FF6092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5C3040-189B-4F79-9FFF-1D41A338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해당 수리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9C9B38-3BC1-40AA-B59C-E826D63A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24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6630E6-3EE0-4E2B-854F-690B58B6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24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D3820C-7956-4D01-8CCF-3E1FDD98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24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2190D2-0CB0-4741-B7D3-4082ADB8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24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4260A9-C195-4B87-91FD-B5664321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24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B1D335-7E8A-4BC7-B011-BC55C32C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53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085683-1CCD-4F78-934A-2958094D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내부 메모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08A9F7-7914-46E8-82AB-F0707409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95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90D54E-37C1-4897-B051-5A86C35E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95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△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751022-E2FD-4CAD-B1FE-516C674F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95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573F44-EC99-4950-A275-41239EAA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95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881CC9-5800-4079-B0B1-2CC9DB1A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95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F0384E-2BEF-4C58-B521-59E3CD39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768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계좌정보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A3AF21-2737-4615-AB46-64F1AD57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67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△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E946AA-210E-4665-813A-EA4F58BC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67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44900A-8A4E-4BE7-BF2A-7FC12BB5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67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△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C5FDF4-277F-4EE1-9527-FDE98204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67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F3A8FC-3E1D-4499-AD2F-8AC03CF5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67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F627D2-A968-4DDF-88E0-0B780EC0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67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● 전체   △ 제한   - 접근 불가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49E9EF-5136-492D-8927-7614C560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716D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AD2954-BF67-40F7-81A5-C1E443E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1차 원칙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4DB4CE-EB7B-4511-826A-D569296A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686979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9AE8BF-7B15-4BFE-8414-A10B31BF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7C83E-8871-4F42-8595-E0794CD2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집신은 계약 이후 관리와 집 중심 연결에 집중합니다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069F4-F237-4FCE-A76D-7329D2CE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3A95A-E1EF-4747-AA6B-D3E56B9B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885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16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6B42A-7B12-4642-A374-0E6EADAD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71625"/>
            <a:ext cx="381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16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2F7C1-E834-43B1-B918-E5FF6FAD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거래 중심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AA8A3-517F-4FA2-A4A1-7C77F98B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09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관리 중심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6058A-4C4F-4DEB-99BD-791E8B82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집 중심 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45488-AF06-4132-A9AF-0ABB9A53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86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분산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33AE0-1AF0-4A29-9C6C-CEB61B19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62375"/>
            <a:ext cx="1428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6371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C6ADE-CBAA-41BB-84B8-6A326236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1477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매물 플랫폼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82C7C-5C15-484C-ADD1-FA72913B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90875"/>
            <a:ext cx="1428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1A986-E670-4E60-976B-7D4B8AA5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4327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전자계약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CE824-E6B5-4226-8566-923EB0EB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1428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AA4A3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48A04-BC44-4B2F-909D-113BA2FA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149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메신저·사진첩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D0787-ABA4-4ACE-91DA-2F83B534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428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499B0-CD85-4F7B-9FBF-47D0180D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임대관리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101E1-C43D-49B7-99B5-1172451D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1428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17634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2F0BC-DE73-4921-B863-CCA9F535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집신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576EB-E58C-40C5-90C5-CCA7F9EF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810250"/>
            <a:ext cx="676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26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26B36"/>
                </a:solidFill>
                <a:latin typeface="Helvetica Neue"/>
                <a:ea typeface="Helvetica Neue"/>
                <a:cs typeface="Helvetica Neue"/>
              </a:rPr>
              <a:t>1차 가설 비교 · 경쟁사의 최신 기능과 가격은 별도 조사 필요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AF6C1F-1819-44D2-873E-511F092A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E80D9-9A90-4D86-8D39-4E0BECA0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134C54-5E18-46F5-99A6-486EFFA2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764400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72B39-DC95-4A1C-97EA-CE463A03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ENTRY CHANNEL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44474-BC9E-41D1-9AE8-787F071D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공인중개사무소 한 곳이 여러 집과 관계자를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64C21-F53E-4525-8445-B27C6A4A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64715-ECAE-46CF-BDB9-0AAF1825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1곳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191DD-DF35-47E6-BC59-900D97FF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공인중개사무소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B49E0-8C56-4440-9229-ED11374A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4312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9F998-1F5B-4F69-BB3A-91FC877F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50채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9F2B9-B107-4999-BB12-E31BDB4C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908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등록 주택 가정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A26B9-5444-4AE5-8A50-C3204CF9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4312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9828A-2097-4CCF-92AA-BD72DF5C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00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다수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163F0-D9D4-4ABE-AD98-BCEB4C8F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908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임대인·임차인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C515B-29B7-4479-AAD1-D469315E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4312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85701-A57C-41E2-ADA7-9EBB9AD6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00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필요시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5BE47-3DFA-4ABE-8AB8-E50ED2A2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908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수리기사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6B180-14C2-4F61-8374-D487359E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0"/>
            <a:ext cx="9429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09739-9910-4C44-9E05-2ABB3F03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임대인 50명을 한 명씩 모집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8C48C-9F40-411C-A2EF-07313843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대비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FF3D3-95F9-42D0-AD60-92901269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사무소 1곳에서 50채 연결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642CE-BFAA-4AB0-8CD5-35F0046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공인중개사무소는 결제 고객이자 도입 채널입니다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469D3-38BC-4B01-89EC-1C03095B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60861-1416-484C-9C86-38BE1565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A98102-B302-4D48-B10D-CFFB4596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131945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EB6613-62D5-479F-9045-79A96967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WILLINGNESS TO 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5FF7C-497F-4F77-9573-58DC2327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고객은 저장 공간보다 줄어든 업무 시간에 비용을 지불합니다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01196-FA69-4EAB-A01E-62AA42CD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FDDFD-B99A-4B59-B7C2-59D50B0B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업무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FCC0C-CA57-4AD8-93CD-21A7C49B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현재 비용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D1732-ECCF-4C6C-9BCF-B58E8C86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145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집신의 변화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41BC8-8ACC-41A7-B7B8-820E3E50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145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검증 숫자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7C3D7-E492-4711-A048-276DF658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92BE9-46CC-447A-8C37-F2C6A9D1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자료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5B196-6E71-4A48-818A-C1D96208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098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직원이 다시 찾음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97071-E9C2-457C-B57D-56362FAC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098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집별 기록 조회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69D99-F6E0-4D16-A95A-6CE71693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098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검색 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30FE2-5075-4563-894F-90FA088C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반복 연락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92725-3DBE-451A-BC16-939B17EA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289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같은 내용을 재전달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F149E-5F7D-4EA0-A825-1C352AAB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289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상태 공동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CB33B-D3F8-48B4-881C-07BC79F1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289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연락 횟수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85120-6497-43FD-8AF3-A4AF97FE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53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1B830-E02D-45E7-ABA0-692D4F5A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현장 재방문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0F4DC-D43C-4FBC-8976-665EE3A4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480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자료 부족으로 방문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F904A1-D291-4DB3-A2A7-975BC550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480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전후 사진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5C129-32BC-4C14-9889-DEDF3583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480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재방문 횟수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96ECB-9DFA-43DA-A601-27CFB578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진행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D13D1-6892-4217-A83A-AF9D49B1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671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전화로 상태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7B883-F129-49E0-A69C-31E5331B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671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상태·담당자 표시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230B76-B0CC-4754-8A3C-ECF4599E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671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처리 기간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010C9F-9A65-4F1D-85E9-D395B9EA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53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8EC490-F2BC-4473-ADFB-8E00E8EA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인수인계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AF4648-3050-44AE-A511-6F16BBC4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863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개인폰·구두 설명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4EEB4D-9280-4909-8171-DA5A410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863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다음 행동 전달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45C6E4-B5B8-4B3A-B5BA-C77DB9AE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863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인계 시간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82401A-145F-4951-B062-8615EB09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03E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24AA00-00CA-42BA-B7FC-8AF2817A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72125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절약되는 시간의 가치가 구독료보다 클 때 결제 이유가 생깁니다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E1EBBE-15F3-428E-89F3-C3AE4749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4DD473-837E-4B9A-A8C3-62380CE7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7406F5-93F4-4FFE-94AC-3A78EFDB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341257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19976A-0A7C-4980-933A-42480E3D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PRICING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0CD75-B6B4-41F9-8334-1827A8C6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월 99,000원은 실제 결제로 검증할 가격 가설입니다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590B9-CC0A-429E-93AA-2A0D51C4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52D5B-18F8-44F7-B919-2887EB71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095750" cy="3286125"/>
          </a:xfrm>
          <a:prstGeom xmlns:a="http://schemas.openxmlformats.org/drawingml/2006/main" prst="roundRect">
            <a:avLst>
              <a:gd name="adj" fmla="val 6377"/>
            </a:avLst>
          </a:prstGeom>
          <a:solidFill xmlns:a="http://schemas.openxmlformats.org/drawingml/2006/main">
            <a:srgbClr val="103E3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3B030-242D-40D1-8A20-2CACE7DE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B3FB7-FCEA-44AD-A224-1437E834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월 99,000원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C0C93-3029-4269-A068-D6ECAABF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최대 50채 가정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038DF-C6A9-4833-BBED-340BB273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출시 전 가격 가설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D0ED9-1F8A-4BBF-9D69-9AB76C44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242887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F3D49-F4BB-4415-87A5-3DC3A6F6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실제 결제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11A69-8ED8-42E7-864E-1396F8C2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결제 전환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4FC0C-EDAF-4935-916A-2BD43499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42887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BFA64-F1D7-4F4B-899D-BC422DE9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4주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5CE00-B993-485F-AC1F-9A69BE23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670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주간 활동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3EE9A-1385-489A-A0C9-ED830954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242887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D9B23-225F-4001-A618-94F5A3EA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6237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기록 재사용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54C40-E5FE-4A0A-90FC-6491C631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386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집 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D52E8-54DA-48AC-9203-555193DF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24250"/>
            <a:ext cx="242887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C4D49-3871-4451-83D2-E4A34170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6237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재결제 의사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FD982-0ED5-4896-BD17-AC6F2EEC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386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유지율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C52D8-A777-4BF2-A09F-50BF06CA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286375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26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26B36"/>
                </a:solidFill>
                <a:latin typeface="Helvetica Neue"/>
                <a:ea typeface="Helvetica Neue"/>
                <a:cs typeface="Helvetica Neue"/>
              </a:rPr>
              <a:t>포함 기능·저장량·50채 초과 요금은 미정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9597B-B61C-4C6D-95B8-9FA1B0D0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CCD077-88CC-4CAD-93D9-606D4868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132DF-710B-4002-8333-8D05D8F9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39802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CE113-76E6-4F58-A1B7-66E2F156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REVENUE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0FDE8-F23E-428C-ABAC-5BBD7018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유료 사무소 20곳은 월 198만원의 첫 매출 가설입니다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556FB-79EE-4943-A21E-42EF8025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6858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d3c2dd321d444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A7388-6744-4B21-A36D-A908F1EC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048000" cy="2238375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BBBB9-27BD-4B46-AF9E-84684B5E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20곳 가정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754BD-1F58-43E0-B686-8293C9A0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월 198만원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8CB90-7FE8-421C-8C06-3483BF51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연 2,376만원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F72C6-69A2-4E32-A7BB-0A93F591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99,000원 × 20곳 × 12개월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DA36C-2F95-41C0-A5F7-1BF43CAD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26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26B36"/>
                </a:solidFill>
                <a:latin typeface="Helvetica Neue"/>
                <a:ea typeface="Helvetica Neue"/>
                <a:cs typeface="Helvetica Neue"/>
              </a:rPr>
              <a:t>할인·해지·세금·수수료·운영비 미반영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42E77-C444-4536-AD13-D90A0184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D68C6-A62C-40BF-AB11-306E1D22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3BD79-1DF1-41A3-B960-0B85711C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425401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DF799-99C0-408B-965D-ABE7A4FC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VALIDATION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84336-09DC-453B-AA25-978BA399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20개 사무소와 50채 가정은 주택 1,000채의 검증 목표입니다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1D453-0139-4DE3-B4AC-D45A1367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8063969ee8486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D53CF-C1B6-4E2B-ABCB-568A7C0F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C8428-833C-480E-B2B6-FAF480F7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유료 사무소 목표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C799F-1797-4E9A-BEE4-AC41C4C0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× 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175C7-6AF1-41A3-BE22-D0A36B7A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사무소당 주택 가정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3DAE3-90A5-4473-9279-D30032AD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96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= 1,000채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3518E-E2CC-4C60-9FAB-C6F99E06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86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26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26B36"/>
                </a:solidFill>
                <a:latin typeface="Helvetica Neue"/>
                <a:ea typeface="Helvetica Neue"/>
                <a:cs typeface="Helvetica Neue"/>
              </a:rPr>
              <a:t>현재 실적이 아닌 검증 목표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B335E-169D-48F5-9E57-3B08AAD7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71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61F2A-9B97-4D36-934C-3E559F79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목표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4DF9E-4CB8-4452-9AD4-502F816A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694295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24D3B-F3C8-42F3-8937-F22C5964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NORTH-STAR METRIC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EBE31-9EC7-4787-AD63-769715CE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등록 수보다 다음 업무에서 다시 사용된 집 수가 중요합니다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B2BD2-86C0-4507-94B3-AB0EF851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8E3BF-D786-4181-AD59-4E1B1885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8B9C2-5A92-4AF8-9969-7130691C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005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가입자 · 사진 · 등록 주택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153BC-7230-4213-A7FA-26E9E901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05125"/>
            <a:ext cx="70485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4EC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DA673-DBC2-432F-882F-D689861C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194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첫 기록 작성 · 관계자 참여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5973B-180F-46AF-9781-228EA705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49530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103E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063E6-6C86-4A07-83E2-A8B9E9C5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050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월간 기록 재사용 집 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C53E2-6D94-4821-8924-D718B5BF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431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후속 수리 · 인수인계 · 재계약 · 퇴거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BAE4C-C684-486A-B64F-C4D862E1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기록은 쌓일 때보다 다시 사용될 때 경제적 가치가 생깁니다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0903F-3F52-4EF7-A014-D2DD96CA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6B099-0B20-4C5A-A6FA-5F9BDA24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61D95-C567-4485-AFFC-ADBE6ED8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088021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C65B1-15FB-405C-A4DA-4C361DE4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CONVERSION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63347-4C24-479F-AD93-7311F198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접촉부터 구독 유지까지 여덟 단계로 측정합니다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46FE0-DF90-449A-AB04-F208332B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99AD7-B4FB-4C8A-B3BE-B172018E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1028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4EC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06482-4A9A-43A2-8196-0B6D8F85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1  접촉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E8897-1596-4B59-9CA5-D65C7457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2190750"/>
            <a:ext cx="9382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4EC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903E7-CF0E-44F7-A070-89250545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2295525"/>
            <a:ext cx="900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2  설명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6CB91-2A14-4629-8632-E71A54C0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714625"/>
            <a:ext cx="8477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4EC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D102C-A63D-4B03-9480-FFB54322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194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3  유료 신청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03148-AD80-4982-8A8F-63F86045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3238500"/>
            <a:ext cx="7572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EF546-F3E9-4AC5-9013-9D67DB5B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3343275"/>
            <a:ext cx="719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  실제 결제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F3D4E-8ED0-4999-952C-1D488347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62375"/>
            <a:ext cx="666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E7C13-43B8-4B71-87CF-545DAC13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671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  첫 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3F4C7-F28A-4992-A0C3-DF837CC1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4286250"/>
            <a:ext cx="5762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C9549-6B1A-4C78-BD49-C205445A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4391025"/>
            <a:ext cx="538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  첫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C307E-D09A-4408-93F6-FE03BF88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10125"/>
            <a:ext cx="4857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634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20004-778E-4109-8F73-33ECB599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149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  재사용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A042F-54AE-407F-85CC-25ECC040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5334000"/>
            <a:ext cx="3952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634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42EF9-B1A1-407C-B2AD-4F21DF4D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5438775"/>
            <a:ext cx="3571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  유지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86F8B9-7ED7-46DE-8A3D-F0F00EC8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26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26B36"/>
                </a:solidFill>
                <a:latin typeface="Helvetica Neue"/>
                <a:ea typeface="Helvetica Neue"/>
                <a:cs typeface="Helvetica Neue"/>
              </a:rPr>
              <a:t>현재 실제 값 없음 · 각 단계의 전환율과 이탈 이유를 유료 모집에서 기록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E2E85-DDBE-49E6-B23F-1D53DAA4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716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520F0F-E0D0-4202-8249-5D1F2B31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측정 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3A61C-322E-474A-A67A-B7911806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52127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6201E-2EEE-4BE8-BFF4-6C3F3363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UNIT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0BBF7-D52C-4DA9-8643-2C740E22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월 구독매출에서 변동비와 지원비를 빼야 수익이 보입니다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C25E5-9DAA-497E-B350-27E7A471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88C89-ABE4-43FE-A37D-E9B60805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667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3E3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B8E3B-6643-4D32-9954-A8037AD4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월 구독매출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526BE-EE0E-47CA-9976-C0B50C53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99,000원 가설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7B310-2729-40F5-8CA6-5A1C6B11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43125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B6B08-E09E-4591-859C-833BD978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31432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8C075-A20B-4152-A530-F5CEED9F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A4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A4A3D"/>
                </a:solidFill>
                <a:latin typeface="Helvetica Neue"/>
                <a:ea typeface="Helvetica Neue"/>
                <a:cs typeface="Helvetica Neue"/>
              </a:rPr>
              <a:t>변동비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7A6D9-839A-47E1-A6DE-38187AC3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저장·전송·인증·PDF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0B68E-A4DB-4B1D-8920-FD26DAAE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43125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4E4E0-CC84-45B2-9041-C0539190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981B9-77B2-47F9-801B-C5E5E117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A4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A4A3D"/>
                </a:solidFill>
                <a:latin typeface="Helvetica Neue"/>
                <a:ea typeface="Helvetica Neue"/>
                <a:cs typeface="Helvetica Neue"/>
              </a:rPr>
              <a:t>직접 지원비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ACFC1-66B9-4752-B2D8-A7898ACE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등록·교육·고객응대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54FA7-E632-4458-B79E-C459D83F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67125"/>
            <a:ext cx="79057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7634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7866D-6D7F-468D-965A-4EC51259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52875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= 사무소당 월 기여이익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A992B-E5D2-402C-9CCB-EA0EDE9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62450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비용 값은 견적과 베타 측정 후 입력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3B9F9-D2B9-4394-B35A-C356ED6A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고객 시간을 줄여도 운영자가 모든 사용을 대신하면 지속하기 어렵습니다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46BB8-70FB-495F-86C9-CF1F997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BA466-253D-413E-9A29-17BFFD18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2078C-3D66-4F2D-AC8A-39DBB429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137628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FE9966-A448-4DC9-A5BA-0C13D066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EXPANSION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87E82-A16A-4ECA-93D7-7F51D7D2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검증된 집 기록을 활용하는 고객부터 순서대로 확장합니다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10878-F351-4A45-BABF-0C5750CD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7DD5E-9E85-4B65-A588-0D33FFBD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2524125" cy="3286125"/>
          </a:xfrm>
          <a:prstGeom xmlns:a="http://schemas.openxmlformats.org/drawingml/2006/main" prst="roundRect">
            <a:avLst>
              <a:gd name="adj" fmla="val 6792"/>
            </a:avLst>
          </a:prstGeom>
          <a:solidFill xmlns:a="http://schemas.openxmlformats.org/drawingml/2006/main">
            <a:srgbClr val="103E33"/>
          </a:solidFill>
          <a:ln xmlns:a="http://schemas.openxmlformats.org/drawingml/2006/main" w="9525">
            <a:solidFill>
              <a:srgbClr val="103E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AF0BB-041F-4BB2-B954-CA3A3B3D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0DE73-C7EF-49FE-A417-37EF7393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B2B 중개사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6BBA2-BA54-4EC0-89EF-09660926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월 구독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D1E76-3DE1-48EC-9CFB-E39DAE10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337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진입 조건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76759-C96F-408F-AE36-3DA66061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767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결제·재사용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109CF-3C8D-44A4-8157-AD3CC9BB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57375"/>
            <a:ext cx="2524125" cy="3286125"/>
          </a:xfrm>
          <a:prstGeom xmlns:a="http://schemas.openxmlformats.org/drawingml/2006/main" prst="roundRect">
            <a:avLst>
              <a:gd name="adj" fmla="val 6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48A50-53DD-415A-A018-4F9E6D36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95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A2815-EEE1-4324-B49F-FACE3917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622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B2C 임대인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91317-8207-4692-96FE-7098BFB9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개인 구독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D9444-22C9-4B52-852A-D2ADD894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4337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진입 조건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807FE-34E6-4A07-8C58-8B509572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767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초대·반복사용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00557-21ED-49A0-832F-A679270C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57375"/>
            <a:ext cx="2524125" cy="3286125"/>
          </a:xfrm>
          <a:prstGeom xmlns:a="http://schemas.openxmlformats.org/drawingml/2006/main" prst="roundRect">
            <a:avLst>
              <a:gd name="adj" fmla="val 6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5C831-E784-40A0-BFBF-AE01BA29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76276-1899-4D2D-BADC-31721275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B2B 작업업체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BE3C4-FF53-4617-94FC-955625B6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766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구독·수수료 검토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867411-3B88-4583-8DDD-94D749E0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진입 조건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8178EE-0AA7-4F10-A4BE-2025A2C4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작업이력 수요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D6374-256A-44B5-9A82-2036B369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57375"/>
            <a:ext cx="2524125" cy="3286125"/>
          </a:xfrm>
          <a:prstGeom xmlns:a="http://schemas.openxmlformats.org/drawingml/2006/main" prst="roundRect">
            <a:avLst>
              <a:gd name="adj" fmla="val 6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CE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52D2B-4228-42A0-A9DE-D3B13405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A3B89-2F02-4254-89EB-09CE18A1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622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B2G 공공기관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B51B6-5DCE-4B35-80F3-B0D5C586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766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시범사업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97DF56-B643-4DF6-9B1E-0154F81A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4337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진입 조건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99B0FC-DBB1-4298-8298-FCF7E6B2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보안·도입절차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9D0A26-6174-4308-ACE4-2110C78F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72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시장 크기보다 기존 집 기록에 추가 가치를 느끼는 순서로 확장합니다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5D6DB7-53B0-4C8F-BA58-AFA99AC2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53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7EAB02-B2E8-4ED3-8848-5F9167EF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B58458-2170-441C-9F1A-7FA062C0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927932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3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B9C895-1CC3-4AF5-A485-4BB52394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다음 90일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08F56-11CD-490B-8067-40144E20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기능 확대보다 결제·사용·재사용을 검증합니다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9EF6E-C8F1-4105-9AF4-3FDD772E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571750" cy="233362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1E342-4F99-45FB-9764-669F45FD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AFE57-459F-4953-83F6-A9CBB549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기준값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54312-7251-4F7D-AB53-45631CBF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설문 표본·인터뷰 수</a:t>
            </a:r>
          </a:p>
          <a:p xmlns:a="http://schemas.openxmlformats.org/drawingml/2006/main">
            <a:pPr algn="l">
              <a:def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현재 검색·연락 시간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2C404-BB45-4520-9C70-D11F17F9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571750" cy="233362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EE80D-F820-49D5-AD89-9A4077AD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669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09D54-B518-45B5-9B66-11153A8B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9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유료 모집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C13CB-7570-424F-82F9-0AF7FB15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81375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설명·신청·실제 결제</a:t>
            </a:r>
          </a:p>
          <a:p xmlns:a="http://schemas.openxmlformats.org/drawingml/2006/main">
            <a:pPr algn="l">
              <a:def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이탈 이유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1B08D-787F-44A4-BC54-1A754440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2571750" cy="233362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36CAE-58E5-4A3F-B795-6E49BA8C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A6BCA-90CF-4079-A882-2B4C9930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MVP 운영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5DEAC-E45D-46EF-B256-2AA4380F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81375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첫 집·첫 기록</a:t>
            </a:r>
          </a:p>
          <a:p xmlns:a="http://schemas.openxmlformats.org/drawingml/2006/main">
            <a:pPr algn="l">
              <a:def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관계자 참여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B5040-E14F-4FF5-9764-9400E38A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47875"/>
            <a:ext cx="2571750" cy="233362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E3D63-8174-40F0-85C1-CF1170A4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669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4E17D-29B4-497E-B411-99DE86BB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09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34E"/>
                </a:solidFill>
                <a:latin typeface="Helvetica Neue"/>
                <a:ea typeface="Helvetica Neue"/>
                <a:cs typeface="Helvetica Neue"/>
              </a:rPr>
              <a:t>사업 판단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C4484-BEE6-4D57-A67B-2C220BC8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81375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기록 재사용·유지</a:t>
            </a:r>
          </a:p>
          <a:p xmlns:a="http://schemas.openxmlformats.org/drawingml/2006/main">
            <a:pPr algn="l">
              <a:def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E28"/>
                </a:solidFill>
                <a:latin typeface="Helvetica Neue"/>
                <a:ea typeface="Helvetica Neue"/>
                <a:cs typeface="Helvetica Neue"/>
              </a:rPr>
              <a:t>운영비·가격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B8666-E192-45EC-95D4-FCED11CF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계속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AA58C-EF8E-43D2-BCA4-93E6FFB0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053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결제 · 재사용 · 유지 · 운영 가능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13525-3CD2-4C5C-80A9-AB3281D3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수정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97B7F-C616-41B7-BDFF-7ABD055B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사용 낮음 · 초기 등록 부담 · 낮은 참여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E04DE-ED13-4649-AFFA-206CE413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중단 검토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A0300-2145-4C0C-A020-6BC49CF1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626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결제 없음 · 재사용 없음 · 지원비 과다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E9180D-BBD2-4F24-BFA0-A1CFDC4F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38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79538"/>
                </a:solidFill>
                <a:latin typeface="Helvetica Neue"/>
                <a:ea typeface="Helvetica Neue"/>
                <a:cs typeface="Helvetica Neue"/>
              </a:rPr>
              <a:t>목표  유료 20곳 · 주택 1,000채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298FA6-6B4D-4C6D-B547-36D7A19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388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현재 실적이 아닌 검증 목표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6ACE9E-A7FE-4DA1-89FB-ECC8602E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81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716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D17BA7-B983-4518-AD8C-5B85D8C9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목표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7FAE2D-F071-4821-8FC8-4C7A6C31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3716D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09781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2026-10-02T06:05:39.8130000Z</dcterms:created>
  <dcterms:modified xsi:type="dcterms:W3CDTF">2026-10-02T06:05:39.8130000Z</dcterms:modified>
</coreProperties>
</file>