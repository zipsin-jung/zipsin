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4b1936a4b54103" /><Relationship Type="http://schemas.openxmlformats.org/officeDocument/2006/relationships/extended-properties" Target="/docProps/app.xml" Id="R68869ace52cd469d" /><Relationship Type="http://schemas.openxmlformats.org/officeDocument/2006/relationships/officeDocument" Target="/ppt/presentation.xml" Id="Rd5044672985e48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ade2df842d4e65"/>
  </p:sldMasterIdLst>
  <p:notesMasterIdLst>
    <p:notesMasterId xmlns:r="http://schemas.openxmlformats.org/officeDocument/2006/relationships" r:id="Re574fa6669ab4b66"/>
  </p:notesMasterIdLst>
  <p:sldIdLst>
    <p:sldId xmlns:r="http://schemas.openxmlformats.org/officeDocument/2006/relationships" id="256" r:id="Rcb879f47ee394d20"/>
    <p:sldId xmlns:r="http://schemas.openxmlformats.org/officeDocument/2006/relationships" id="257" r:id="R5589be6485dd4629"/>
    <p:sldId xmlns:r="http://schemas.openxmlformats.org/officeDocument/2006/relationships" id="258" r:id="R6c76ab646804485d"/>
    <p:sldId xmlns:r="http://schemas.openxmlformats.org/officeDocument/2006/relationships" id="259" r:id="R70268b80a5124109"/>
    <p:sldId xmlns:r="http://schemas.openxmlformats.org/officeDocument/2006/relationships" id="260" r:id="R52010646f1d44cce"/>
    <p:sldId xmlns:r="http://schemas.openxmlformats.org/officeDocument/2006/relationships" id="261" r:id="R5f05dec5a27840da"/>
    <p:sldId xmlns:r="http://schemas.openxmlformats.org/officeDocument/2006/relationships" id="262" r:id="R405ec5f54f484127"/>
    <p:sldId xmlns:r="http://schemas.openxmlformats.org/officeDocument/2006/relationships" id="263" r:id="Rd798a461bed34fed"/>
    <p:sldId xmlns:r="http://schemas.openxmlformats.org/officeDocument/2006/relationships" id="264" r:id="R54ffba3205c54c15"/>
    <p:sldId xmlns:r="http://schemas.openxmlformats.org/officeDocument/2006/relationships" id="265" r:id="R2ee95d44f3e742a6"/>
    <p:sldId xmlns:r="http://schemas.openxmlformats.org/officeDocument/2006/relationships" id="266" r:id="R6a4d5bedf3c647f3"/>
    <p:sldId xmlns:r="http://schemas.openxmlformats.org/officeDocument/2006/relationships" id="267" r:id="Raf1679b94f3f4c1b"/>
    <p:sldId xmlns:r="http://schemas.openxmlformats.org/officeDocument/2006/relationships" id="268" r:id="R604bd263b23a41f0"/>
    <p:sldId xmlns:r="http://schemas.openxmlformats.org/officeDocument/2006/relationships" id="269" r:id="R78ae221e4bef46a0"/>
    <p:sldId xmlns:r="http://schemas.openxmlformats.org/officeDocument/2006/relationships" id="270" r:id="R5ba5d67ae9fa4608"/>
    <p:sldId xmlns:r="http://schemas.openxmlformats.org/officeDocument/2006/relationships" id="271" r:id="R6feffee7aa244efd"/>
    <p:sldId xmlns:r="http://schemas.openxmlformats.org/officeDocument/2006/relationships" id="272" r:id="Rb144cfbe6bb94a36"/>
    <p:sldId xmlns:r="http://schemas.openxmlformats.org/officeDocument/2006/relationships" id="273" r:id="R8cb22241a71b46ca"/>
    <p:sldId xmlns:r="http://schemas.openxmlformats.org/officeDocument/2006/relationships" id="274" r:id="R4529beabac99438d"/>
    <p:sldId xmlns:r="http://schemas.openxmlformats.org/officeDocument/2006/relationships" id="275" r:id="Rd57a7ef957c94fe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9708378c3c426b" /><Relationship Type="http://schemas.openxmlformats.org/officeDocument/2006/relationships/slideMaster" Target="/ppt/slideMasters/slideMaster1.xml" Id="R76ade2df842d4e65" /><Relationship Type="http://schemas.openxmlformats.org/officeDocument/2006/relationships/notesMaster" Target="/ppt/notesMasters/notesMaster1.xml" Id="Re574fa6669ab4b66" /><Relationship Type="http://schemas.openxmlformats.org/officeDocument/2006/relationships/presProps" Target="/ppt/presProps.xml" Id="R851e59a55926451c" /><Relationship Type="http://schemas.openxmlformats.org/officeDocument/2006/relationships/tableStyles" Target="/ppt/tableStyles.xml" Id="R3aae71bd0fc54cd6" /><Relationship Type="http://schemas.openxmlformats.org/officeDocument/2006/relationships/slide" Target="/ppt/slides/slide1.xml" Id="Rcb879f47ee394d20" /><Relationship Type="http://schemas.openxmlformats.org/officeDocument/2006/relationships/slide" Target="/ppt/slides/slide2.xml" Id="R5589be6485dd4629" /><Relationship Type="http://schemas.openxmlformats.org/officeDocument/2006/relationships/slide" Target="/ppt/slides/slide3.xml" Id="R6c76ab646804485d" /><Relationship Type="http://schemas.openxmlformats.org/officeDocument/2006/relationships/slide" Target="/ppt/slides/slide4.xml" Id="R70268b80a5124109" /><Relationship Type="http://schemas.openxmlformats.org/officeDocument/2006/relationships/slide" Target="/ppt/slides/slide5.xml" Id="R52010646f1d44cce" /><Relationship Type="http://schemas.openxmlformats.org/officeDocument/2006/relationships/slide" Target="/ppt/slides/slide6.xml" Id="R5f05dec5a27840da" /><Relationship Type="http://schemas.openxmlformats.org/officeDocument/2006/relationships/slide" Target="/ppt/slides/slide7.xml" Id="R405ec5f54f484127" /><Relationship Type="http://schemas.openxmlformats.org/officeDocument/2006/relationships/slide" Target="/ppt/slides/slide8.xml" Id="Rd798a461bed34fed" /><Relationship Type="http://schemas.openxmlformats.org/officeDocument/2006/relationships/slide" Target="/ppt/slides/slide9.xml" Id="R54ffba3205c54c15" /><Relationship Type="http://schemas.openxmlformats.org/officeDocument/2006/relationships/slide" Target="/ppt/slides/slide10.xml" Id="R2ee95d44f3e742a6" /><Relationship Type="http://schemas.openxmlformats.org/officeDocument/2006/relationships/slide" Target="/ppt/slides/slide11.xml" Id="R6a4d5bedf3c647f3" /><Relationship Type="http://schemas.openxmlformats.org/officeDocument/2006/relationships/slide" Target="/ppt/slides/slide12.xml" Id="Raf1679b94f3f4c1b" /><Relationship Type="http://schemas.openxmlformats.org/officeDocument/2006/relationships/slide" Target="/ppt/slides/slide13.xml" Id="R604bd263b23a41f0" /><Relationship Type="http://schemas.openxmlformats.org/officeDocument/2006/relationships/slide" Target="/ppt/slides/slide14.xml" Id="R78ae221e4bef46a0" /><Relationship Type="http://schemas.openxmlformats.org/officeDocument/2006/relationships/slide" Target="/ppt/slides/slide15.xml" Id="R5ba5d67ae9fa4608" /><Relationship Type="http://schemas.openxmlformats.org/officeDocument/2006/relationships/slide" Target="/ppt/slides/slide16.xml" Id="R6feffee7aa244efd" /><Relationship Type="http://schemas.openxmlformats.org/officeDocument/2006/relationships/slide" Target="/ppt/slides/slide17.xml" Id="Rb144cfbe6bb94a36" /><Relationship Type="http://schemas.openxmlformats.org/officeDocument/2006/relationships/slide" Target="/ppt/slides/slide18.xml" Id="R8cb22241a71b46ca" /><Relationship Type="http://schemas.openxmlformats.org/officeDocument/2006/relationships/slide" Target="/ppt/slides/slide19.xml" Id="R4529beabac99438d" /><Relationship Type="http://schemas.openxmlformats.org/officeDocument/2006/relationships/slide" Target="/ppt/slides/slide20.xml" Id="Rd57a7ef957c94f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3f45f754ec49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d20fc6757548e6" /><Relationship Type="http://schemas.openxmlformats.org/officeDocument/2006/relationships/notesMaster" Target="/ppt/notesMasters/notesMaster1.xml" Id="Ra0e68433122043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4275d90d9e49d7" /><Relationship Type="http://schemas.openxmlformats.org/officeDocument/2006/relationships/notesMaster" Target="/ppt/notesMasters/notesMaster1.xml" Id="Rcf224c7b9e8041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26429ab1f04932" /><Relationship Type="http://schemas.openxmlformats.org/officeDocument/2006/relationships/notesMaster" Target="/ppt/notesMasters/notesMaster1.xml" Id="Raffc567ebbb941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2f26e176d043ce" /><Relationship Type="http://schemas.openxmlformats.org/officeDocument/2006/relationships/notesMaster" Target="/ppt/notesMasters/notesMaster1.xml" Id="Rc3e91161512a42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01eb7a245b24c2e" /><Relationship Type="http://schemas.openxmlformats.org/officeDocument/2006/relationships/notesMaster" Target="/ppt/notesMasters/notesMaster1.xml" Id="R373d9b545a6f4e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c099f04d8a4f1a" /><Relationship Type="http://schemas.openxmlformats.org/officeDocument/2006/relationships/notesMaster" Target="/ppt/notesMasters/notesMaster1.xml" Id="R47140e5686c5428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9dc205b6b8b41bd" /><Relationship Type="http://schemas.openxmlformats.org/officeDocument/2006/relationships/notesMaster" Target="/ppt/notesMasters/notesMaster1.xml" Id="Rc0e84639679146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455d9949eb4a66" /><Relationship Type="http://schemas.openxmlformats.org/officeDocument/2006/relationships/notesMaster" Target="/ppt/notesMasters/notesMaster1.xml" Id="R9c47885d9d484d8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334a66f4024ba7" /><Relationship Type="http://schemas.openxmlformats.org/officeDocument/2006/relationships/notesMaster" Target="/ppt/notesMasters/notesMaster1.xml" Id="R26205aec5c124fa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2d47f91708d439a" /><Relationship Type="http://schemas.openxmlformats.org/officeDocument/2006/relationships/notesMaster" Target="/ppt/notesMasters/notesMaster1.xml" Id="R1c5979878f464a2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ec2415257a34ca3" /><Relationship Type="http://schemas.openxmlformats.org/officeDocument/2006/relationships/notesMaster" Target="/ppt/notesMasters/notesMaster1.xml" Id="R9617b94e2093440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9efb7c5861e4028" /><Relationship Type="http://schemas.openxmlformats.org/officeDocument/2006/relationships/notesMaster" Target="/ppt/notesMasters/notesMaster1.xml" Id="Re3a2fce14e5f4f8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0e3dd87da2e49a4" /><Relationship Type="http://schemas.openxmlformats.org/officeDocument/2006/relationships/notesMaster" Target="/ppt/notesMasters/notesMaster1.xml" Id="Rcf1fd810a4cd473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cd317ee7c8c46a7" /><Relationship Type="http://schemas.openxmlformats.org/officeDocument/2006/relationships/notesMaster" Target="/ppt/notesMasters/notesMaster1.xml" Id="Rcf408f22ab6e4f5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5d904e6adf041d9" /><Relationship Type="http://schemas.openxmlformats.org/officeDocument/2006/relationships/notesMaster" Target="/ppt/notesMasters/notesMaster1.xml" Id="R86996489116b465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e418e7aca57401c" /><Relationship Type="http://schemas.openxmlformats.org/officeDocument/2006/relationships/notesMaster" Target="/ppt/notesMasters/notesMaster1.xml" Id="R71389c71931b4fb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b195903d0b34ae9" /><Relationship Type="http://schemas.openxmlformats.org/officeDocument/2006/relationships/notesMaster" Target="/ppt/notesMasters/notesMaster1.xml" Id="Rf9bed7771f2e4d8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6ac04985a014035" /><Relationship Type="http://schemas.openxmlformats.org/officeDocument/2006/relationships/notesMaster" Target="/ppt/notesMasters/notesMaster1.xml" Id="Ra19ff8747b7341a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2cb5915cdb14791" /><Relationship Type="http://schemas.openxmlformats.org/officeDocument/2006/relationships/notesMaster" Target="/ppt/notesMasters/notesMaster1.xml" Id="Rd6accbb0c66c457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f018eb8123a426f" /><Relationship Type="http://schemas.openxmlformats.org/officeDocument/2006/relationships/notesMaster" Target="/ppt/notesMasters/notesMaster1.xml" Id="Redc59a33d58842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집신 사업계획서 표지. 본 자료의 가격, 일정, 시장 진입 수치는 별도 표기가 없으면 검증 전 가설입니다.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창업자 현장 경험을 바탕으로 정리한 문제입니다. 시장 전체를 대표하는 정량 조사 결과는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업무 방식의 문제 구조를 시각화했습니다.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문제의 존재는 창업자 경험과 정성 인터뷰에서 확인했으나, 시간·비용 절감 폭은 아직 측정하지 않았습니다.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외부 통계는 시장 배경을 보여주며 집신의 유료 수요를 증명하지는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국가데이터처, 2024년 주택소유통계 결과, 2025-11-14, https://mods.go.kr/board.es?act=view&amp;bid=11471&amp;list_no=439298&amp;mid=a10301100400</a:t>
            </a:r>
          </a:p>
          <a:p xmlns:a="http://schemas.openxmlformats.org/drawingml/2006/main">
            <a:r>
              <a:t>국가데이터처, 한국의 사회동향 2025, 임차가구의 주거 상황과 지원 정책의 변화, https://www.kostat.go.kr/boardDownload.es?bid=12310&amp;list_no=443092&amp;seq=1</a:t>
            </a:r>
          </a:p>
          <a:p xmlns:a="http://schemas.openxmlformats.org/drawingml/2006/main">
            <a:r>
              <a:t>국토교통부 통계누리, 개업공인중개사 현황(분기별), https://stat.molit.go.kr/portal/cate/statView.do?hFormId=7146&amp;hRsId=292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집신의 제품 정의와 핵심 가치입니다.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집신은 수리 플랫폼으로 정의하지 않습니다. 수리는 핵심 사용 사례지만 제품 전체가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공인중개사무소는 초기 결제 고객이자 임대인·임차인을 연결하는 도입 채널입니다.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일반 매물 의뢰의 핵심 사용자 흐름입니다.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구현 상태를 실제 웹앱 기능과 구분해 표시했습니다. 랜딩페이지는 배포되었지만 실제 가입 접수는 구현하지 않았습니다.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모바일 UI는 방향 시안이며 실제 웹앱 기능은 미구현입니다.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제품 가치를 검증할 대표 업무 세 가지입니다.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권한과 개인정보 보호는 1차 제품 원칙입니다. 세부 보존·파기 정책과 공식 소유권 확인 수준은 미결정입니다.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경쟁사 실명 비교가 아니라 현재 사용하는 대체 방식과 제품 구조의 차이를 비교했습니다. 실제 경쟁 서비스 기능·가격 조사는 후속 과제입니다.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초기 고객 세그먼트와 사무소 중심 유통 구조는 파일럿으로 검증할 가설입니다.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월 99,000원·최대 50채는 현재 랜딩페이지의 출시 전 예상 가격입니다. 실제 결제 의사와 비용 구조를 파일럿에서 확인해야 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파일럿 조건은 제안안입니다. 할인 여부, 참여 집 수, 성공 기준의 수치는 사용자 승인 후 확정합니다.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완료 상태와 향후 개발 계획을 구분했습니다. 일정과 개발비는 상세 설계 후 확정합니다.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세부 보존·파기, 소유권 확인, 집 매매·사무소 폐업 시 기록 이전 정책은 법률·개인정보 전문가 검토가 필요합니다.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요청 사항: 유료 파일럿 사무소 소개, 개인정보를 제거한 현장 사례, MVP 범위와 성공 기준 승인. 사전가입자 1,000명은 목표입니다.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d6d996fc6d48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d5863a5b1b47e4" /><Relationship Type="http://schemas.openxmlformats.org/officeDocument/2006/relationships/slideLayout" Target="/ppt/slideLayouts/slideLayout1.xml" Id="R91d62da0489b46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d62da0489b46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13991a6817495a" /><Relationship Type="http://schemas.openxmlformats.org/officeDocument/2006/relationships/image" Target="/ppt/media/image.jpeg" Id="R926e8984e1a44c66" /><Relationship Type="http://schemas.openxmlformats.org/officeDocument/2006/relationships/notesSlide" Target="/ppt/notesSlides/notesSlide1.xml" Id="R27c466afd68f4e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3bc9bea9cc427b" /><Relationship Type="http://schemas.openxmlformats.org/officeDocument/2006/relationships/notesSlide" Target="/ppt/notesSlides/notesSlide2.xml" Id="R66d56fba6ec04d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2f9027a2a0483f" /><Relationship Type="http://schemas.openxmlformats.org/officeDocument/2006/relationships/notesSlide" Target="/ppt/notesSlides/notesSlide3.xml" Id="R2979a1b8067144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dd51a62f0f4daa" /><Relationship Type="http://schemas.openxmlformats.org/officeDocument/2006/relationships/notesSlide" Target="/ppt/notesSlides/notesSlide4.xml" Id="R196a7ecd922949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4ba6e0a8d24307" /><Relationship Type="http://schemas.openxmlformats.org/officeDocument/2006/relationships/notesSlide" Target="/ppt/notesSlides/notesSlide5.xml" Id="Ra0eb0b9804ac45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d00950f59a4678" /><Relationship Type="http://schemas.openxmlformats.org/officeDocument/2006/relationships/notesSlide" Target="/ppt/notesSlides/notesSlide6.xml" Id="R185e74db69c74d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7b994b64a84cc8" /><Relationship Type="http://schemas.openxmlformats.org/officeDocument/2006/relationships/notesSlide" Target="/ppt/notesSlides/notesSlide7.xml" Id="R4b90668aa7454f5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2201c9973f4d6d" /><Relationship Type="http://schemas.openxmlformats.org/officeDocument/2006/relationships/notesSlide" Target="/ppt/notesSlides/notesSlide8.xml" Id="R106e05476fc441d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2230119efc4031" /><Relationship Type="http://schemas.openxmlformats.org/officeDocument/2006/relationships/notesSlide" Target="/ppt/notesSlides/notesSlide9.xml" Id="Ra6de0e1a98f7484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b4d78f112d4cf4" /><Relationship Type="http://schemas.openxmlformats.org/officeDocument/2006/relationships/image" Target="/ppt/media/image.png" Id="R72f74d78dcb643fc" /><Relationship Type="http://schemas.openxmlformats.org/officeDocument/2006/relationships/notesSlide" Target="/ppt/notesSlides/notesSlide10.xml" Id="R101130eab82f427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8b7fa2b2e54a39" /><Relationship Type="http://schemas.openxmlformats.org/officeDocument/2006/relationships/image" Target="/ppt/media/image2.png" Id="R0d9c277c4472418d" /><Relationship Type="http://schemas.openxmlformats.org/officeDocument/2006/relationships/notesSlide" Target="/ppt/notesSlides/notesSlide11.xml" Id="R11655d083ff34df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ded6f997f1414d" /><Relationship Type="http://schemas.openxmlformats.org/officeDocument/2006/relationships/notesSlide" Target="/ppt/notesSlides/notesSlide12.xml" Id="R409efdeddf01458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926f61c5fd4b01" /><Relationship Type="http://schemas.openxmlformats.org/officeDocument/2006/relationships/notesSlide" Target="/ppt/notesSlides/notesSlide13.xml" Id="R7bf7aaa759fd4e9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02337686c74d35" /><Relationship Type="http://schemas.openxmlformats.org/officeDocument/2006/relationships/notesSlide" Target="/ppt/notesSlides/notesSlide14.xml" Id="R29ab289fe8754fd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4f13ab444e4b74" /><Relationship Type="http://schemas.openxmlformats.org/officeDocument/2006/relationships/notesSlide" Target="/ppt/notesSlides/notesSlide15.xml" Id="R088399f7a7d3474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5586b45b6542d3" /><Relationship Type="http://schemas.openxmlformats.org/officeDocument/2006/relationships/notesSlide" Target="/ppt/notesSlides/notesSlide16.xml" Id="Re3143417daff450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4c5d8ea90f45d3" /><Relationship Type="http://schemas.openxmlformats.org/officeDocument/2006/relationships/notesSlide" Target="/ppt/notesSlides/notesSlide17.xml" Id="R9b389a5d4f3b477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ef159f86d04af9" /><Relationship Type="http://schemas.openxmlformats.org/officeDocument/2006/relationships/notesSlide" Target="/ppt/notesSlides/notesSlide18.xml" Id="R88cb0c2a11ce479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f92962f7bc4856" /><Relationship Type="http://schemas.openxmlformats.org/officeDocument/2006/relationships/notesSlide" Target="/ppt/notesSlides/notesSlide19.xml" Id="R26dcc56b5427475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090afd364d4221" /><Relationship Type="http://schemas.openxmlformats.org/officeDocument/2006/relationships/image" Target="/ppt/media/image3.png" Id="R1276fa3e8c0942bd" /><Relationship Type="http://schemas.openxmlformats.org/officeDocument/2006/relationships/notesSlide" Target="/ppt/notesSlides/notesSlide20.xml" Id="R3c37b71e5aee45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F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6984A7-D66F-4C6B-BE29-B2967824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35"/>
          </a:solidFill>
          <a:ln xmlns:a="http://schemas.openxmlformats.org/drawingml/2006/main" w="0">
            <a:noFill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6e8984e1a44c66"/>
          <a:stretch xmlns:a="http://schemas.openxmlformats.org/drawingml/2006/main"/>
        </p:blipFill>
        <p:spPr>
          <a:xfrm xmlns:a="http://schemas.openxmlformats.org/drawingml/2006/main">
            <a:off x="783908" y="647700"/>
            <a:ext cx="832485" cy="7239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54E0CA-1A48-49FD-A7DF-EC03E7E3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집신 ZIPSIN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8822F7-4DDA-42E9-A2FC-8F0A2AEE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8D6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E8D6A8"/>
                </a:solidFill>
                <a:latin typeface="Helvetica Neue"/>
                <a:ea typeface="Helvetica Neue"/>
                <a:cs typeface="Helvetica Neue"/>
              </a:rPr>
              <a:t>사람이 바뀌어도, 집의 기록은 남습니다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DA59E2-3330-4935-B4B9-54CC5C6A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71875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집·계약·사무소 업무를 연결하는 주거 기록 협업 서비스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8C7FC4-5FF2-4AD4-81AA-04C4A40A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8D6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E8D6A8"/>
                </a:solidFill>
                <a:latin typeface="Helvetica Neue"/>
                <a:ea typeface="Helvetica Neue"/>
                <a:cs typeface="Helvetica Neue"/>
              </a:rPr>
              <a:t>사업계획서  |  2026.10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11D3C7-E5EE-471D-8084-2D81746E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2190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94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10A84C-930F-421E-BDB8-8A2306E4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400300"/>
            <a:ext cx="1524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기록이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다음 사람의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업무가 됩니다</a:t>
            </a:r>
          </a:p>
        </p:txBody>
      </p:sp>
    </p:spTree>
    <p:extLst>
      <p:ext uri="{BB962C8B-B14F-4D97-AF65-F5344CB8AC3E}">
        <p14:creationId xmlns:p14="http://schemas.microsoft.com/office/powerpoint/2010/main" val="4343639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104130-F8C4-4828-B1BB-E4CAC506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rPr>
              <a:t>FOUNDER INSIGHT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1B4590-F639-410D-B5C5-C9FD1452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현장에서 시작한 문제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D665F8-EE10-4AD4-AB14-B65E6FBD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2D6F26-B1B7-4D96-846E-3CEAD9C6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5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E5942"/>
                </a:solidFill>
                <a:latin typeface="Helvetica Neue"/>
                <a:ea typeface="Helvetica Neue"/>
                <a:cs typeface="Helvetica Neue"/>
              </a:rPr>
              <a:t>3~5개 공인중개사무소 운영·보조원 실무 경험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B8D5A7-2871-4D10-B606-403786DE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24125"/>
            <a:ext cx="752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매물 의뢰가 들어오면 집을 확인하고 사진을 찍고, 계약 이후에는 연락·서류·수리 기록을 다시 찾아야 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10CA37-884B-40A2-8994-3F2EA26C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3190875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8E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7A1B1E-A648-4C28-9670-A611432C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6667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594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B1277B-A59B-4CA7-8EB8-FE5189AB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33850"/>
            <a:ext cx="2733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반복 방문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5E6236-C388-4B59-A294-D1309147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27336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변경사항을 알 수 없어 다시 확인하고 촬영합니다.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B5B43C-FB68-4B1E-974B-B304B200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05250"/>
            <a:ext cx="3190875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8E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AE0EAA-E2A6-43E6-AA67-36FF1E4E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05250"/>
            <a:ext cx="6667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0BCAEC-BEC8-4A94-98DB-F12D8796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133850"/>
            <a:ext cx="2733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개인에게 묶인 정보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C33D47-A0D0-4F0C-80F2-9B896785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552950"/>
            <a:ext cx="27336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전화·카톡·사진·종이 서류가 담당자마다 흩어집니다.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A822C6-8618-429F-A3EF-6249F58B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05250"/>
            <a:ext cx="3190875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8E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EED21D-FE4F-4D04-97FE-79DA7499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05250"/>
            <a:ext cx="6667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493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AE465D-FE25-4F0D-90E4-39AB2195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33850"/>
            <a:ext cx="2733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끊기는 인수인계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D6684B-C85C-4EF2-92A0-782F14EA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52950"/>
            <a:ext cx="27336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보조원이 바뀌면 처리 범위와 다음 일이 사라집니다.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F66240-CE0B-4CBF-B8ED-2FEE4298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34125"/>
            <a:ext cx="6858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594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80F544-D4B8-49E1-8064-2C84B955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확정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BF9009-95F1-4442-AC21-0B4945BA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885375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B912EC-AC4C-4009-ABD8-55E2246A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rPr>
              <a:t>CURRENT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87CB68-06A4-45F1-9D39-6B963611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집 한 채의 정보가 다섯 곳에 흩어집니다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8348C2-CAE3-4833-934F-D3A63AB9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9776C5-9ACF-41B5-BAF2-52CBB69B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5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E5942"/>
                </a:solidFill>
                <a:latin typeface="Helvetica Neue"/>
                <a:ea typeface="Helvetica Neue"/>
                <a:cs typeface="Helvetica Neue"/>
              </a:rPr>
              <a:t>전화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BFF76A-853B-4DFB-B7EC-581B556A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895475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9F4098-63C5-4801-8642-AF7085D4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907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의뢰와 변경사항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F9361B-71A3-4226-99A2-E46B4821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032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5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E5942"/>
                </a:solidFill>
                <a:latin typeface="Helvetica Neue"/>
                <a:ea typeface="Helvetica Neue"/>
                <a:cs typeface="Helvetica Neue"/>
              </a:rPr>
              <a:t>카카오톡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82566E-6FCF-4A93-B2F9-538384F6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05100"/>
            <a:ext cx="3762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115FF2-BF9A-48B4-8CF7-DF5A1076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003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관계자 대화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5DAD62-9E5F-45FA-900E-19FA954A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5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E5942"/>
                </a:solidFill>
                <a:latin typeface="Helvetica Neue"/>
                <a:ea typeface="Helvetica Neue"/>
                <a:cs typeface="Helvetica Neue"/>
              </a:rPr>
              <a:t>사진첩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4CE0A8-60A1-467E-8E65-26AF5D6C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14725"/>
            <a:ext cx="4286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241286-5DCF-42C0-80A7-7676E67C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099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광고·입주·수리 사진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1730C7-15E8-4350-8E4E-831CEDC3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5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E5942"/>
                </a:solidFill>
                <a:latin typeface="Helvetica Neue"/>
                <a:ea typeface="Helvetica Neue"/>
                <a:cs typeface="Helvetica Neue"/>
              </a:rPr>
              <a:t>PC 폴더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3228F4-18A3-40CC-9D67-0F1F8236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24350"/>
            <a:ext cx="4810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6BDE78-D64B-4292-8EF5-EB984F69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195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계약서와 영수증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DCC5AE-8B45-4CFB-B588-AF3CAC61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5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E5942"/>
                </a:solidFill>
                <a:latin typeface="Helvetica Neue"/>
                <a:ea typeface="Helvetica Neue"/>
                <a:cs typeface="Helvetica Neue"/>
              </a:rPr>
              <a:t>사람의 기억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6BD41C-2E08-4D6B-9875-46687CBA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33975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493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9B840B-7F04-42C8-869D-BD3218C4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0292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처리 상태와 다음 행동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2E72D7-6982-4A9E-8372-73000BFF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담당자가 바뀌는 순간, 기록보다 기억이 먼저 끊깁니다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019136-0C9D-450B-A605-AF180AE3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34125"/>
            <a:ext cx="6858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594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57650F-C28D-47BF-BE84-A40FDD8D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확정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B7A1A8-E242-47E7-A41E-EA63F212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17887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FECF7D-6807-43BC-A03C-800FA7D1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9A6FC4-F092-45BE-BAA1-C5413F6A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핵심 문제는 기록 단절과 다음 행동의 부재입니다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4EFB88-500B-4E08-9AFE-3191F29B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8A080D-A18B-46B5-A541-59E45AE8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E5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E5942"/>
                </a:solidFill>
                <a:latin typeface="Helvetica Neue"/>
                <a:ea typeface="Helvetica Neue"/>
                <a:cs typeface="Helvetica Neue"/>
              </a:rPr>
              <a:t>어느 집에서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810946-A7AC-4ECE-924D-B047008B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47875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E5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E5942"/>
                </a:solidFill>
                <a:latin typeface="Helvetica Neue"/>
                <a:ea typeface="Helvetica Neue"/>
                <a:cs typeface="Helvetica Neue"/>
              </a:rPr>
              <a:t>누가 무엇을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A431A2-F960-4CC7-AE72-720FBD49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047875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E5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E5942"/>
                </a:solidFill>
                <a:latin typeface="Helvetica Neue"/>
                <a:ea typeface="Helvetica Neue"/>
                <a:cs typeface="Helvetica Neue"/>
              </a:rPr>
              <a:t>어디까지 했고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4290F0-A367-4632-A852-AA83EADD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47875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E5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E5942"/>
                </a:solidFill>
                <a:latin typeface="Helvetica Neue"/>
                <a:ea typeface="Helvetica Neue"/>
                <a:cs typeface="Helvetica Neue"/>
              </a:rPr>
              <a:t>다음에는 무엇을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75736F-D964-4A2E-A3F6-A8924569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09550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FF2A38-63C7-4163-8EBE-18EF57B6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09550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DAF974-BAA5-439B-8849-C01EEE05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09550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FCC718-606A-4AE4-A76A-1C0FA1BB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05150"/>
            <a:ext cx="1000125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173F3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D779BD-8180-4267-B6CC-68EC7BDF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290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8D6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8D6A8"/>
                </a:solidFill>
                <a:latin typeface="Helvetica Neue"/>
                <a:ea typeface="Helvetica Neue"/>
                <a:cs typeface="Helvetica Neue"/>
              </a:rPr>
              <a:t>이 질문에 답하지 못하면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8A7FDE-7386-4594-AAA5-46AD2803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433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재방문·반복 전달·업무 누락·인수인계 실패가 반복됩니다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F061FD-B318-456D-907C-72AD330C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0537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절감 규모는 파일럿에서 측정할 가설입니다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FF9A73-C91B-45F7-85BD-0B1F3297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34125"/>
            <a:ext cx="6858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AFC692-CFC9-4A30-9525-1BF72BC3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가설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9A97BA-0675-4062-A7F8-3155EBC5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184271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3F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80EDD4-F030-4ACE-B0AC-4B009359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rPr>
              <a:t>MARKET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F8CDE7-5CF2-49F0-91F0-529D34CA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주거 기록이 발생하는 시장 배경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27A106-709C-4B78-84B2-06488A71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C178BB-8B77-4F0D-88FC-1E183CB9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295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2,229.4만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AFC08A-815D-4F28-8732-6A7BF692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8D6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8D6A8"/>
                </a:solidFill>
                <a:latin typeface="Helvetica Neue"/>
                <a:ea typeface="Helvetica Neue"/>
                <a:cs typeface="Helvetica Neue"/>
              </a:rPr>
              <a:t>2024년 일반가구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13E630-7631-4E03-B440-07F29267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857375"/>
            <a:ext cx="238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38.0%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B8EDCC-F646-4082-88FB-D825C886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5336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8D6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8D6A8"/>
                </a:solidFill>
                <a:latin typeface="Helvetica Neue"/>
                <a:ea typeface="Helvetica Neue"/>
                <a:cs typeface="Helvetica Neue"/>
              </a:rPr>
              <a:t>2024년 임차가구 비율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DC9C7B-62FA-4800-AC7B-18D27186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857375"/>
            <a:ext cx="295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330.4만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20C0B5-51C8-4130-BD74-3AB311DF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5336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8D6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8D6A8"/>
                </a:solidFill>
                <a:latin typeface="Helvetica Neue"/>
                <a:ea typeface="Helvetica Neue"/>
                <a:cs typeface="Helvetica Neue"/>
              </a:rPr>
              <a:t>2채 이상 보유 가구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178E4F-855E-44C2-B9DE-D4705314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0B5499-EA2F-4735-A530-FEF2D55E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집신의 초기 시장은 전체 주거 시장이 아니라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6AF1BE-CEE0-4468-911F-5E77505D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8D6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E8D6A8"/>
                </a:solidFill>
                <a:latin typeface="Helvetica Neue"/>
                <a:ea typeface="Helvetica Neue"/>
                <a:cs typeface="Helvetica Neue"/>
              </a:rPr>
              <a:t>여러 집을 관리하고 직원이 함께 일하는 소규모 공인중개사무소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A73B99-6983-444C-AFED-BB152501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전국 개업공인중개사 현황은 국토교통부가 분기별 공표합니다. 타깃 사무소 수는 파일럿 지역을 정한 뒤 산정합니다.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9B99D3-4E9F-4A90-AD5F-2AFED4C4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34125"/>
            <a:ext cx="6858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594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AEDADE-D252-4FDA-BEB9-64502FCB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확정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7A0E39-9D44-460B-B97A-4ED58112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701412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2477DF-672B-45D8-BA5D-8AC57D13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rPr>
              <a:t>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9DAAD1-37AD-4C5A-82AF-A92792F9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집신은 집을 기준으로 기록과 업무를 연결합니다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7548E4-361F-43AC-9C37-20D7F30F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AD82CB-57EB-4C56-A012-9AB20BB0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57375"/>
            <a:ext cx="3429000" cy="2905125"/>
          </a:xfrm>
          <a:prstGeom xmlns:a="http://schemas.openxmlformats.org/drawingml/2006/main" prst="roundRect">
            <a:avLst>
              <a:gd name="adj" fmla="val 49180"/>
            </a:avLst>
          </a:prstGeom>
          <a:solidFill xmlns:a="http://schemas.openxmlformats.org/drawingml/2006/main">
            <a:srgbClr val="0E594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539B63-7CB8-4428-98CA-A43AAF16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812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E88389-7F6F-4087-886D-68D23955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003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8D6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E8D6A8"/>
                </a:solidFill>
                <a:latin typeface="Helvetica Neue"/>
                <a:ea typeface="Helvetica Neue"/>
                <a:cs typeface="Helvetica Neue"/>
              </a:rPr>
              <a:t>한 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53E781-5E45-42AC-9DB2-81650F423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695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기록의 기준점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CEB6DE-EB64-4F54-A19F-EBF40660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47875"/>
            <a:ext cx="2333625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7F2E7"/>
          </a:solidFill>
          <a:ln xmlns:a="http://schemas.openxmlformats.org/drawingml/2006/main" w="9525">
            <a:solidFill>
              <a:srgbClr val="E8D6A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03C59E-68B8-4D4E-A983-68DAE9A9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86000"/>
            <a:ext cx="2105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계약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A4DF9-430F-480D-A391-6199BE2F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333625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7F2E7"/>
          </a:solidFill>
          <a:ln xmlns:a="http://schemas.openxmlformats.org/drawingml/2006/main" w="9525">
            <a:solidFill>
              <a:srgbClr val="E8D6A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DC62DB-DDCF-439D-AB1A-5948956B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48125"/>
            <a:ext cx="2105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사무소 업무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76C2A7-590F-4E2F-A85E-EE5AB75B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47875"/>
            <a:ext cx="2333625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7F2E7"/>
          </a:solidFill>
          <a:ln xmlns:a="http://schemas.openxmlformats.org/drawingml/2006/main" w="9525">
            <a:solidFill>
              <a:srgbClr val="E8D6A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EA4B3B-3524-4B5B-AC15-8D2ED8E7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286000"/>
            <a:ext cx="2105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사건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67C2B2-309D-48FE-A211-C65E60C3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10000"/>
            <a:ext cx="2333625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7F2E7"/>
          </a:solidFill>
          <a:ln xmlns:a="http://schemas.openxmlformats.org/drawingml/2006/main" w="9525">
            <a:solidFill>
              <a:srgbClr val="E8D6A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3889BD-72A4-4D4F-8956-56B3003D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048125"/>
            <a:ext cx="2105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사진·문서·대화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3BE1AE-218E-4A57-9FDE-71533EB3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81625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사람이 바뀌어도 권한 있는 다음 담당자가 맥락과 다음 행동을 이어받습니다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694205-5BC8-421D-B034-F1EF24A8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34125"/>
            <a:ext cx="6858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594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B5F785-21E3-42DA-B586-9FF588B7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확정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CB17D7-1035-4701-9911-5C798ED2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882251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8250D1-A79B-4CC0-A45D-5410CB1E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rPr>
              <a:t>PRODUCT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F58CCC-5CC4-46E1-A49C-1397E2D3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수리는 집에서 발생하는 여러 사건 중 하나입니다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43DB06-20B4-4510-909F-CC886582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6BF8C8-6FEE-4AC7-A418-395F9A00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E5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E5942"/>
                </a:solidFill>
                <a:latin typeface="Helvetica Neue"/>
                <a:ea typeface="Helvetica Neue"/>
                <a:cs typeface="Helvetica Neue"/>
              </a:rPr>
              <a:t>계약 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273AEC-B241-4DFC-8B4F-A4FA1207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9526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E5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E5942"/>
                </a:solidFill>
                <a:latin typeface="Helvetica Neue"/>
                <a:ea typeface="Helvetica Neue"/>
                <a:cs typeface="Helvetica Neue"/>
              </a:rPr>
              <a:t>계약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B44162-6FF3-4615-B022-1C3C8C57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526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E5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E5942"/>
                </a:solidFill>
                <a:latin typeface="Helvetica Neue"/>
                <a:ea typeface="Helvetica Neue"/>
                <a:cs typeface="Helvetica Neue"/>
              </a:rPr>
              <a:t>입주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7B9D8A-BD3C-40FD-9F25-D161940B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9526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E5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E5942"/>
                </a:solidFill>
                <a:latin typeface="Helvetica Neue"/>
                <a:ea typeface="Helvetica Neue"/>
                <a:cs typeface="Helvetica Neue"/>
              </a:rPr>
              <a:t>거주·수리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967FCD-67B9-4C5D-AB71-1058BF37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526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E5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E5942"/>
                </a:solidFill>
                <a:latin typeface="Helvetica Neue"/>
                <a:ea typeface="Helvetica Neue"/>
                <a:cs typeface="Helvetica Neue"/>
              </a:rPr>
              <a:t>퇴거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8E3012-B321-4315-8B5A-20D9FB8C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19375"/>
            <a:ext cx="8048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EF0F60-6646-4F1A-8583-442785EF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66975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594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7F978B-C166-425F-9F85-C67A6350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466975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594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AE0C5F-EAA4-4171-92EA-66B62A04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66975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594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E2905D-0760-4221-86EE-F02ABE27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466975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594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C1004E-7B99-408C-A54B-C0602895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466975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594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9C1590-1E58-4F56-B518-55307188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광고 사진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4B8C42-4DC1-4672-88E9-1609B581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1242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계약서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5DC16A-F09E-4D3F-B92F-1B596732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242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입주 상태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8BA4C1-B6C8-474B-BAB2-B95668A4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242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변경·수리 기록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E07C0C-ECBD-4232-819A-AF9B07F6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퇴거 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6A0F2B-4046-4CD7-837B-62104C53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095750"/>
            <a:ext cx="8191500" cy="10668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8E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3BAC41-A6C2-4FD6-9C08-95D41E97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00550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449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A4493D"/>
                </a:solidFill>
                <a:latin typeface="Helvetica Neue"/>
                <a:ea typeface="Helvetica Neue"/>
                <a:cs typeface="Helvetica Neue"/>
              </a:rPr>
              <a:t>수리기사 중개·견적 비교·앱 결제는 초기 범위에서 제외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A4EC4D-2B07-4C02-BBFD-95AC5CEA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34125"/>
            <a:ext cx="6858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594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008225-8A94-4455-8B5F-616483FF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확정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238E21-38D3-4B2D-9DD3-085EEA89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190461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95F4CC-B5E4-44B0-9B7A-09A52141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rPr>
              <a:t>USERS AND VALUE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D23B8E-DFC6-4246-B22B-A6879F85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네 사용자가 같은 집을 서로 다른 이유로 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ACDFEA-AA18-4A68-A3D2-3764562E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3A606B-4539-4EED-86D4-4F17523B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5095875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8E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7C423B-D7F9-4017-9D6C-1AD62479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66675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594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94E1DF-92F1-481C-A551-5913887D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4638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대표 공인중개사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5F754D-BCC7-416C-A628-A5E2C192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4638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여러 집과 직원의 멈춘 일·다음 일을 보고 사무소의 기록을 지킵니다.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68C304-08E6-4032-B294-1C9206B8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809750"/>
            <a:ext cx="5095875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8E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57A28E-FC4C-4457-86DF-341562BC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809750"/>
            <a:ext cx="66675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FAF9B5-C80B-4282-8720-3EEA9754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38350"/>
            <a:ext cx="4638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보조원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2BBD12-A599-4A77-94DE-78ADF757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57450"/>
            <a:ext cx="4638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개인 기억과 카톡 검색 없이 배정된 집의 맥락과 다음 행동을 이어받습니다.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BA32BD-8B6E-4D6D-8A3A-8B826D1B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5095875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8E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FC850C-62B9-4BA7-8DEB-AA6DF2CF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66675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594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78B60D-7872-4968-835F-217E0522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4638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임대인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A36277-8A79-46FD-81D1-B7740CA6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4638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방문과 반복 설명을 줄이고 여러 중개사에 최신 집 상태를 안전하게 공유합니다.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15AA35-D0B4-4D7C-981A-2B12F698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714750"/>
            <a:ext cx="5095875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8E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404CFF-3058-4DAC-90B0-339CFB31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714750"/>
            <a:ext cx="66675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14FCF2-9367-4165-BDE8-92424FBB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943350"/>
            <a:ext cx="4638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임차인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F38DDC-D5D2-4B68-BE04-EFAFCF86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362450"/>
            <a:ext cx="4638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현재 계약 범위에서 입주 상태와 요청 처리 과정을 확인합니다.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85CD3E-3505-4901-B7F0-1C2DA792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7690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결제 고객: 공인중개사무소    사용 확장: 임대인·임차인 초대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AB5591-CEA6-422B-85AC-7A2216A7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34125"/>
            <a:ext cx="6858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5942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6664B6-FD9C-432A-9CF0-E2FA915D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확정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A99F50-A7FE-4E3C-A988-7C55C471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020928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5FB94F-A511-4BD9-974A-85DDEB69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rPr>
              <a:t>CORE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49629F-5F12-4296-BE8D-3B7B42D1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매물 의뢰부터 퇴거까지 하나의 집 타임라인이 이어집니다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C8D26A-0038-43AA-AC35-5CBF67C7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F82083-BE15-401C-BA57-BAC6D9CE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00375"/>
            <a:ext cx="10191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2D59B4-5CF8-43EC-A5B9-C5DD23E1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594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E73ED7-48E0-4D74-B75D-19B13526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956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2DF143-AC71-4A3B-92A4-29B2F93D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2425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매물 의뢰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D876A5-540E-4419-8ECD-B90CA51C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7622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594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CC5CB1-C56D-44EB-AE1E-E5682483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8956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24619A-8A26-415E-9F5B-139803BD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2425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현장 확인·촬영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BA111D-FC1B-4199-8C6C-379C2A2D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7622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594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C07553-073A-441D-BCBE-08D15AA6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956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09E920-F9A9-4F4A-9DEB-D0E0F617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52425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광고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C5B66F-ECDB-4E5B-8B62-9ACD0600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7622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15E0F1-A926-474A-A58C-66B57480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8956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2CB39A-BFAA-42AF-8CB9-E197C611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52425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계약·문서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603836-B4D9-483C-96C6-B8863B44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7622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594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3CC9E0-22F7-4F6A-8453-101D8D6C2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8956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DF5D50-4E63-430C-9537-262F8C00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2425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입주 상태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8DC05F-B5F0-49DA-99C0-4B158018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7622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594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82006B-D5B0-4BC6-8170-EFAC3332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8956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1A20A0-773D-4D23-BA3D-74221E5A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2425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사건·수리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7A3EA6-B64A-465D-A993-15B183B3F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27622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594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5433F9-7F1F-47D6-8434-3DE3207F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28956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4B6706-EB07-4025-8E0C-B96E4930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52425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퇴거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EBF065-E655-47DF-8016-F350CEE5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905375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E5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E5942"/>
                </a:solidFill>
                <a:latin typeface="Helvetica Neue"/>
                <a:ea typeface="Helvetica Neue"/>
                <a:cs typeface="Helvetica Neue"/>
              </a:rPr>
              <a:t>각 단계의 사진·문서·대화·일정이 집과 계약에 연결됩니다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68A07F-C9A4-48EB-B019-8FEEA1C2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34125"/>
            <a:ext cx="6858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5942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E0FCE8-C948-4E5A-AE51-B65DBD80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확정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E8F82C-3083-4750-AC19-BF3CC6CD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812105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074C52-23A4-46E2-BB94-546A4352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rPr>
              <a:t>CURRENT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349D0A-4C5B-4DF2-9472-0A9EC427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현재는 랜딩페이지와 체험형 화면까지 구현했습니다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EC7D95-1418-4009-820D-2336D582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f74d78dcb643fc"/>
          <a:srcRect xmlns:a="http://schemas.openxmlformats.org/drawingml/2006/main" l="1956" t="0" r="19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714500"/>
            <a:ext cx="6667500" cy="3905250"/>
          </a:xfrm>
          <a:prstGeom xmlns:a="http://schemas.openxmlformats.org/drawingml/2006/main" prst="roundRect">
            <a:avLst>
              <a:gd name="adj" fmla="val 4878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43D630-32B2-4AE3-B84D-992D074B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09750"/>
            <a:ext cx="3476625" cy="1162050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8E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B0954F-BC74-4F75-921A-1203EE1F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09750"/>
            <a:ext cx="66675" cy="1162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594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298516-1CEC-4A6A-9416-84EF7882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38350"/>
            <a:ext cx="3019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구현 완료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112A4B-BC4D-4C8B-9D33-864111C0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457450"/>
            <a:ext cx="3019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Next.js 랜딩페이지</a:t>
            </a:r>
          </a:p>
          <a:p xmlns:a="http://schemas.openxmlformats.org/drawingml/2006/main">
            <a:pPr algn="l">
              <a:def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역할별 화면 데모</a:t>
            </a:r>
          </a:p>
          <a:p xmlns:a="http://schemas.openxmlformats.org/drawingml/2006/main">
            <a:pPr algn="l">
              <a:def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요금제·폼 상호작용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FCC7EE-294D-4291-82D1-E80CB919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190875"/>
            <a:ext cx="3476625" cy="1162050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8E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1642FF-1C7E-47D4-8EDC-CA327089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190875"/>
            <a:ext cx="66675" cy="1162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493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88510F-F773-491F-913A-CF761E6C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419475"/>
            <a:ext cx="3019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아직 미구현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F55F2C-4554-4103-ACD7-E2C1683D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838575"/>
            <a:ext cx="3019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실제 가입·DB·인증</a:t>
            </a:r>
          </a:p>
          <a:p xmlns:a="http://schemas.openxmlformats.org/drawingml/2006/main">
            <a:pPr algn="l">
              <a:def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채팅·알림·PDF</a:t>
            </a:r>
          </a:p>
          <a:p xmlns:a="http://schemas.openxmlformats.org/drawingml/2006/main">
            <a:pPr algn="l">
              <a:def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결제·관리자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3CEB7E-F8EE-448F-BC34-737A5CB2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9530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E5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E5942"/>
                </a:solidFill>
                <a:latin typeface="Helvetica Neue"/>
                <a:ea typeface="Helvetica Neue"/>
                <a:cs typeface="Helvetica Neue"/>
              </a:rPr>
              <a:t>start.zipsin.net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C55CA8-3CCA-42E6-99DC-0E479679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257800"/>
            <a:ext cx="347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현재 랜딩 데모의 수리기사 역할은 향후 웹앱 핵심 4역할에서 제외 예정</a:t>
            </a:r>
          </a:p>
          <a:p xmlns:a="http://schemas.openxmlformats.org/drawingml/2006/main">
            <a:pPr algn="l">
              <a:defRPr sz="1050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사전가입 폼은 저장·전송하지 않는 체험용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B12148-9567-4601-A5BF-377D01CF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34125"/>
            <a:ext cx="6858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594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909E9C-D685-4D57-A47B-F42C994A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확정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CC7ECC-AF09-4A24-AB72-C108E69C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400956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73F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EE5FD0-FC04-4612-8C7C-A06AF853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rPr>
              <a:t>PRODUCT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5E005C-4B74-4382-9A7B-D49E15AC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핵심 화면은 기록보다 다음 행동을 먼저 보여줍니다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331448-5781-4C0F-9215-C7ECEBAE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9c277c4472418d"/>
          <a:stretch xmlns:a="http://schemas.openxmlformats.org/drawingml/2006/main"/>
        </p:blipFill>
        <p:spPr>
          <a:xfrm xmlns:a="http://schemas.openxmlformats.org/drawingml/2006/main">
            <a:off x="552450" y="1535906"/>
            <a:ext cx="6191250" cy="464343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503E80-3CC4-4574-A46B-F8B2C41E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5737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8D6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E8D6A8"/>
                </a:solidFill>
                <a:latin typeface="Helvetica Neue"/>
                <a:ea typeface="Helvetica Neue"/>
                <a:cs typeface="Helvetica Neue"/>
              </a:rPr>
              <a:t>오늘의 업무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E3C499-4F8D-403B-A175-50FB2286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860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답변 대기·기한 초과·멈춘 집을 먼저 확인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77513C-05DB-48A2-AB93-B79F71C3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432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8D6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E8D6A8"/>
                </a:solidFill>
                <a:latin typeface="Helvetica Neue"/>
                <a:ea typeface="Helvetica Neue"/>
                <a:cs typeface="Helvetica Neue"/>
              </a:rPr>
              <a:t>집 상세 타임라인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075D86-A0CA-4002-BFE4-779547AF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71875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계약·사진·사건·문서가 시간순으로 연결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704A7F-8C3D-463E-A845-BCC83337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291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8D6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E8D6A8"/>
                </a:solidFill>
                <a:latin typeface="Helvetica Neue"/>
                <a:ea typeface="Helvetica Neue"/>
                <a:cs typeface="Helvetica Neue"/>
              </a:rPr>
              <a:t>역할 구조 변경 예정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ACB313-ED99-453D-AABB-F0F52BC6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38700"/>
            <a:ext cx="3905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현재 랜딩 시안: 공인중개사·임대인·임차인·수리기사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향후 웹앱: 대표·보조원·임대인·임차인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66D1F9-8C96-44E1-A680-B8960473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34125"/>
            <a:ext cx="6858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9A509D-E574-4DF8-9C53-1FA1913D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가설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126B76-CEFD-410F-ACDB-9CE91107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340757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EFB0ED-F0F4-4120-9A8C-B1776197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rPr>
              <a:t>USE CASES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D8AB9B-F944-4E39-99AB-3CC1DBE2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세 가지 반복 업무에서 첫 가치를 검증합니다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C228A1-F848-4324-9301-61644DBB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ADDA84-3085-4341-A37F-DC79946E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33337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8E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45694A-42CE-4554-8C24-F6E4540D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66675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594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7382C6-5ABE-492E-ADCA-E335A6BA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01  매물 의뢰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1F5BD3-8D99-4F4C-AC40-F7B4221C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8765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의뢰 등록</a:t>
            </a:r>
          </a:p>
          <a:p xmlns:a="http://schemas.openxmlformats.org/drawingml/2006/main">
            <a:pPr algn="l">
              <a:def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담당 보조원 지정</a:t>
            </a:r>
          </a:p>
          <a:p xmlns:a="http://schemas.openxmlformats.org/drawingml/2006/main">
            <a:pPr algn="l">
              <a:def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현장 사진 촬영</a:t>
            </a:r>
          </a:p>
          <a:p xmlns:a="http://schemas.openxmlformats.org/drawingml/2006/main">
            <a:pPr algn="l">
              <a:def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광고·계약 상태 기록</a:t>
            </a:r>
          </a:p>
          <a:p xmlns:a="http://schemas.openxmlformats.org/drawingml/2006/main">
            <a:pPr algn="l">
              <a:def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임차인 초대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9DE3EA-3D28-4FF8-9585-3DE2A71E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33337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8E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4F7804-9177-4526-855E-3B1CB3C6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66675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8CB1C7-EC10-4931-8507-91001D08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03835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02  사건·수리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E39635-CE6B-4E1C-9E44-ADB8F6ED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457450"/>
            <a:ext cx="28765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사진과 설명 등록</a:t>
            </a:r>
          </a:p>
          <a:p xmlns:a="http://schemas.openxmlformats.org/drawingml/2006/main">
            <a:pPr algn="l">
              <a:def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담당자·예정일 지정</a:t>
            </a:r>
          </a:p>
          <a:p xmlns:a="http://schemas.openxmlformats.org/drawingml/2006/main">
            <a:pPr algn="l">
              <a:def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전·중·후 사진</a:t>
            </a:r>
          </a:p>
          <a:p xmlns:a="http://schemas.openxmlformats.org/drawingml/2006/main">
            <a:pPr algn="l">
              <a:def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영수증 첨부</a:t>
            </a:r>
          </a:p>
          <a:p xmlns:a="http://schemas.openxmlformats.org/drawingml/2006/main">
            <a:pPr algn="l">
              <a:def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선택 기록 PDF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998F69-D7A8-4E1A-8D9C-0461132B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09750"/>
            <a:ext cx="33337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8E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45341D-E767-4CB4-81AD-B3BA8356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09750"/>
            <a:ext cx="66675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493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012B96-812E-4D58-91FA-0A19ECB4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3835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03  직원 변경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2C1DBA-B128-4A28-97D1-146E16D5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57450"/>
            <a:ext cx="28765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진행 중 업무 분류</a:t>
            </a:r>
          </a:p>
          <a:p xmlns:a="http://schemas.openxmlformats.org/drawingml/2006/main">
            <a:pPr algn="l">
              <a:def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새 담당자 지정</a:t>
            </a:r>
          </a:p>
          <a:p xmlns:a="http://schemas.openxmlformats.org/drawingml/2006/main">
            <a:pPr algn="l">
              <a:def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최근 대화 확인</a:t>
            </a:r>
          </a:p>
          <a:p xmlns:a="http://schemas.openxmlformats.org/drawingml/2006/main">
            <a:pPr algn="l">
              <a:def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다음 행동 인계</a:t>
            </a:r>
          </a:p>
          <a:p xmlns:a="http://schemas.openxmlformats.org/drawingml/2006/main">
            <a:pPr algn="l">
              <a:def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이전 접근 종료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4B6DC5-7858-4128-A2C6-17BDFF93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5245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첫 파일럿은 세 흐름의 반복 사용과 실제 시간 절감을 측정합니다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A46EB2-FCEF-4ACE-B8D3-8AA008C3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34125"/>
            <a:ext cx="6858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0F669E-B2BB-485C-898D-EC236F2E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가설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EF1870-5BC5-459E-8709-81C05927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426413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EA8BA5-60BD-4947-A733-4F23B3B3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rPr>
              <a:t>TRUST BY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87B1C2-CCF8-4FE4-967C-A6FB3E67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주소가 같아도 기록은 자동으로 공개되지 않습니다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745C55-3C94-4683-AB79-7E193D9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09C906-991F-4D69-9E65-D434C4B7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1089660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9127E1-ADCB-448E-AAAF-3E702A55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335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5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E5942"/>
                </a:solidFill>
                <a:latin typeface="Helvetica Neue"/>
                <a:ea typeface="Helvetica Neue"/>
                <a:cs typeface="Helvetica Neue"/>
              </a:rPr>
              <a:t>집 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643DBA-6488-4C13-BFA6-F856BB7A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9335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시스템이 자동 생성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170D09-5BB9-42FE-A93B-DA28A289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33575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사용자가 키를 기억하거나 주소로 접근하지 않음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EB8754-1FAA-4091-BDF5-A76106D7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146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5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E5942"/>
                </a:solidFill>
                <a:latin typeface="Helvetica Neue"/>
                <a:ea typeface="Helvetica Neue"/>
                <a:cs typeface="Helvetica Neue"/>
              </a:rPr>
              <a:t>계약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EF45D0-8399-4D5E-9841-AA80D88C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714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참여자와 기간을 새로 설정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7CBF95-9CDE-449F-9422-D26C8AA3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14625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이전 임차인 개인정보 자동 승계 금지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3E2213-4C29-4BD3-BCB2-3B69C5D8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24225"/>
            <a:ext cx="1089660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2F1F68-2766-4834-809E-96C3890D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956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5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E5942"/>
                </a:solidFill>
                <a:latin typeface="Helvetica Neue"/>
                <a:ea typeface="Helvetica Neue"/>
                <a:cs typeface="Helvetica Neue"/>
              </a:rPr>
              <a:t>사무소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008BE8-ED47-40EE-B4E8-B7F3AF5F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4956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대표가 직원 접근 관리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B2A965-3A02-4E82-96C7-3DD2F24E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95675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퇴사 즉시 종료하고 업무를 이전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B3FBAD-7648-4302-97B6-406CAE88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767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5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E5942"/>
                </a:solidFill>
                <a:latin typeface="Helvetica Neue"/>
                <a:ea typeface="Helvetica Neue"/>
                <a:cs typeface="Helvetica Neue"/>
              </a:rPr>
              <a:t>공유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F933EB-17F7-483D-BDA4-2C9DCD63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2767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공간별 안전한 기본값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65D19A-5C1C-4C86-A570-F0B1377D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76725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중개용 현황에서 계약서·계좌·내부메모 제외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A415AD-6E48-4A70-B01F-85B39DD2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86325"/>
            <a:ext cx="1089660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9461B8-1317-4F18-A493-3F0A9A21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577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5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E5942"/>
                </a:solidFill>
                <a:latin typeface="Helvetica Neue"/>
                <a:ea typeface="Helvetica Neue"/>
                <a:cs typeface="Helvetica Neue"/>
              </a:rPr>
              <a:t>PDF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9908A1-9A76-45A6-9F6A-5040A5F7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0577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사용자가 기록을 선택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92EE3B-8EDF-41AC-87C7-F5EA6DD8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57775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개인정보·계좌정보 기본 제외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67E0F2-F3F8-4ABF-9D5D-DC58011D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34125"/>
            <a:ext cx="6858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594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F3DBB4-1F26-4A6E-916C-14ACC52C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확정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CAE96D-9945-463D-9096-E34BC70C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5166016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8545D4-F42A-4626-8407-C43CCEC1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rPr>
              <a:t>ALTERNATIVES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618F8D-52FC-441D-895C-D767775F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대체재는 기록하지만 집신은 업무 맥락까지 이어줍니다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7321D5-5BAD-499A-9524-D3136215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E0D723-207C-42AD-9A8A-EF470004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2476500" cy="3381375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7F2E7"/>
          </a:solidFill>
          <a:ln xmlns:a="http://schemas.openxmlformats.org/drawingml/2006/main" w="9525">
            <a:solidFill>
              <a:srgbClr val="E5E8E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59FD5D-D594-4983-8DF3-3EDD5663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E5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E5942"/>
                </a:solidFill>
                <a:latin typeface="Helvetica Neue"/>
                <a:ea typeface="Helvetica Neue"/>
                <a:cs typeface="Helvetica Neue"/>
              </a:rPr>
              <a:t>전화·메신저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E64B9F-FA9D-40ED-8C00-FDBBF7E1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05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대화는 빠름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DAA7C9-B4C8-4EF5-8F89-94EB08EB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1950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F9107D-8E41-4080-BDAA-7FCD384E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2019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집별 상태와 담당 업무가 흩어짐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AD027B-4ABD-4AF0-9FFD-00E7F415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809750"/>
            <a:ext cx="2476500" cy="3381375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7F2E7"/>
          </a:solidFill>
          <a:ln xmlns:a="http://schemas.openxmlformats.org/drawingml/2006/main" w="9525">
            <a:solidFill>
              <a:srgbClr val="E5E8E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C940CA-6EF0-4E03-84C0-1A59FA1B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43125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E5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E5942"/>
                </a:solidFill>
                <a:latin typeface="Helvetica Neue"/>
                <a:ea typeface="Helvetica Neue"/>
                <a:cs typeface="Helvetica Neue"/>
              </a:rPr>
              <a:t>사진첩·드라이브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B70B8E-36DF-4A38-B143-6AC65207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57500"/>
            <a:ext cx="205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파일 보관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DF028E-B136-4796-86D1-D395C4F2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1950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3E7E99-9321-40CB-B225-83CA94BE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00500"/>
            <a:ext cx="2019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계약·참여자·다음 행동이 연결되지 않음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1BFFD8-FF2F-4C43-8594-97132119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476500" cy="3381375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7F2E7"/>
          </a:solidFill>
          <a:ln xmlns:a="http://schemas.openxmlformats.org/drawingml/2006/main" w="9525">
            <a:solidFill>
              <a:srgbClr val="E5E8E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952077-FB5B-4997-B2DF-56A3F61B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43125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E5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E5942"/>
                </a:solidFill>
                <a:latin typeface="Helvetica Neue"/>
                <a:ea typeface="Helvetica Neue"/>
                <a:cs typeface="Helvetica Neue"/>
              </a:rPr>
              <a:t>수리 플랫폼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39E673-F5CF-4148-BFBE-11C38E26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57500"/>
            <a:ext cx="205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수리 거래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079477-01E3-4D60-ADBD-F60990AC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1950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A3AFB9-8F1F-44A7-99F4-757C6494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00500"/>
            <a:ext cx="2019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계약 전후의 전체 집 이력을 다루지 않음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8D49BA-C703-4F8C-B686-4019838B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09750"/>
            <a:ext cx="2476500" cy="3381375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173F35"/>
          </a:solidFill>
          <a:ln xmlns:a="http://schemas.openxmlformats.org/drawingml/2006/main" w="9525">
            <a:solidFill>
              <a:srgbClr val="173F3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6D5F19-07C7-4215-95F8-0B2BBCD7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43125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8D6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E8D6A8"/>
                </a:solidFill>
                <a:latin typeface="Helvetica Neue"/>
                <a:ea typeface="Helvetica Neue"/>
                <a:cs typeface="Helvetica Neue"/>
              </a:rPr>
              <a:t>집신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50C7DC-6AE5-45CA-9F35-40D73C49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57500"/>
            <a:ext cx="205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집·계약·업무 연결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5EE9B9-BA41-4231-A1DA-43621CF5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61950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9CE43F-4D88-46F7-BC2C-DD5D414C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00500"/>
            <a:ext cx="2019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담당자 변경과 권한 회수까지 같은 흐름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BA7841-34C0-4BBD-908B-97FDE613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34125"/>
            <a:ext cx="6858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1F23F5-A13C-43D2-B3A1-E4659E7F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가설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760B1E-ECF4-43E6-A105-1E26CDFD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561176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73F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323959-C337-48FA-A345-22000E02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rPr>
              <a:t>BEACHHEAD CUSTOMER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A8E4B4-B1F6-4B4E-8DBD-574D211D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첫 고객은 여러 집과 직원을 함께 관리하는 사무소입니다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74614D-C9A0-4ADC-A906-D15B9C88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AB06CE-C1CD-4ED7-8AC1-993614F6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8D6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E8D6A8"/>
                </a:solidFill>
                <a:latin typeface="Helvetica Neue"/>
                <a:ea typeface="Helvetica Neue"/>
                <a:cs typeface="Helvetica Neue"/>
              </a:rPr>
              <a:t>초기 고객 조건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A613C6-9DCB-4FC1-95AC-B5719133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765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62A8C8-39B2-4E74-B674-E26C37A5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90775"/>
            <a:ext cx="561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다가구 건물 또는 여러 임대 물건을 반복 관리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2330E3-5D46-441C-A53C-1BB57162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8135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C62188-2987-4F4F-8AF1-316C8838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95625"/>
            <a:ext cx="561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대표와 한 명 이상의 보조원이 함께 근무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D767EE-174B-480A-A248-17711EB2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862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9BBB5B-BA69-4477-AFEA-B4633485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00475"/>
            <a:ext cx="561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사진·연락처·계약서가 개인 휴대전화에 분산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5A5406-3E7B-4F6D-AD64-2AC9C237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9105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519455-EC4D-45E0-86A0-B15D6C74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05325"/>
            <a:ext cx="561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업무 인수인계와 반복 방문 문제가 빈번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AD9769-CC48-45DE-899D-1A99559C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33550"/>
            <a:ext cx="3905250" cy="3524250"/>
          </a:xfrm>
          <a:prstGeom xmlns:a="http://schemas.openxmlformats.org/drawingml/2006/main" prst="roundRect">
            <a:avLst>
              <a:gd name="adj" fmla="val 7568"/>
            </a:avLst>
          </a:prstGeom>
          <a:solidFill xmlns:a="http://schemas.openxmlformats.org/drawingml/2006/main">
            <a:srgbClr val="F7F2E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89FF14-9021-4EDA-9744-D3E5BAB1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431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E5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E5942"/>
                </a:solidFill>
                <a:latin typeface="Helvetica Neue"/>
                <a:ea typeface="Helvetica Neue"/>
                <a:cs typeface="Helvetica Neue"/>
              </a:rPr>
              <a:t>도입 확장 구조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E47391-3639-4CD7-801F-4B3E87B0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7622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사무소 1곳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BFC356-486B-4AD5-8ABB-D4F60C44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861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797659-94F7-48AF-84EF-AF8A8DBD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3623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보조원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401DB2-61F6-40BA-9713-6B10A737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8617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792505-CD03-4D7C-B710-940EA5C11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9624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관리 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81F8DC-98FA-4CBD-B09F-2190603A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862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6BD502-B1E4-4644-A60D-DB2CF596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5624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임대인·임차인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203370-ED20-4AF8-86F2-3AB3D969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577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449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4493D"/>
                </a:solidFill>
                <a:latin typeface="Helvetica Neue"/>
                <a:ea typeface="Helvetica Neue"/>
                <a:cs typeface="Helvetica Neue"/>
              </a:rPr>
              <a:t>초대 수락률이 낮으면 확장이 멈춥니다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2392C9-05D1-486F-A91A-20E60CF21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34125"/>
            <a:ext cx="6858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3B4AAF-A3E9-466B-8A59-7BF43F5E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가설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8F93AB-AFAE-4180-B440-112659C0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0693654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B96293-41C1-44C9-88E9-3080E2E1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rPr>
              <a:t>REVENUE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40FC30-7B21-4E4C-98EF-313B67CD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월 구독 가격은 유료 파일럿에서 검증합니다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6933FB-DB6F-4462-97B5-30F6976C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87C02C-E9EE-42F1-AB14-5908D998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857750" cy="3429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73F3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25BA8C-DC6A-4974-AA6A-85DE8AE1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8D6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E8D6A8"/>
                </a:solidFill>
                <a:latin typeface="Helvetica Neue"/>
                <a:ea typeface="Helvetica Neue"/>
                <a:cs typeface="Helvetica Neue"/>
              </a:rPr>
              <a:t>BUSINESS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44A18D-2F67-4C82-9CB2-5D687ACF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월 99,000원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2DA6BC-E11F-44FF-AE82-8FFA6E78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7662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공인중개사무소  |  최대 50채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F6CA83-14D1-4D47-AEF0-BE062603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D6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E8D6A8"/>
                </a:solidFill>
                <a:latin typeface="Helvetica Neue"/>
                <a:ea typeface="Helvetica Neue"/>
                <a:cs typeface="Helvetica Neue"/>
              </a:rPr>
              <a:t>출시 전 가격 가설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14907A-F3A5-4D74-96EE-EDDE4B29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E5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E5942"/>
                </a:solidFill>
                <a:latin typeface="Helvetica Neue"/>
                <a:ea typeface="Helvetica Neue"/>
                <a:cs typeface="Helvetica Neue"/>
              </a:rPr>
              <a:t>검증할 단위경제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B7DFF2-DCEB-4DC7-A891-9F665F14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647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2C8D1E-E079-4B66-A239-820FB608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5908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사무소당 활성 집 수와 직원 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75474B-D0E7-4492-8973-AE9338F4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2099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FF9D30-756A-455B-8B17-D2CACD29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1527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사진·문서 저장량과 전송량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B0EC1E-DC74-48ED-892E-4F17304F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771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516C40-2E4B-43AC-9DEB-802B83A4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7147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문자·본인확인·PDF 변동비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ECD710-62A6-4DAF-950A-F19EC669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3338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3202AC-7FE9-4EC1-8338-570819CE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27672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도입 지원과 고객 응대 시간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AC1DBB-3177-4192-9253-8D7A464F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895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5E4C07-BD6E-4ED1-9CE4-028A6EAA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387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50채 초과 요금 및 보존 정책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767DB1-027A-4A9B-9409-F0C9CF9C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34125"/>
            <a:ext cx="6858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C5B3CF-B445-46DF-BE41-46588252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가설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DEC144-F851-4828-87A1-893DF322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55060009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91C99B-91BE-422E-9DE5-7A33AD01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rPr>
              <a:t>PAID 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2EFB52-FEEC-4EA3-A891-701AB161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3개 사무소의 실제 결제와 반복 사용으로 검증합니다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8B2507-972A-4D46-8402-DEA070CD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7EA78A-C553-48A8-B47A-E5B12DC1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2476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8E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62D4B1-CBC0-4D79-B878-EE63103F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7167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rPr>
              <a:t>대상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B02522-474F-4F00-B6BF-C61A6513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2095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문제가 뚜렷한 사무소 3곳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CAB390-EB9D-408C-B80C-1B9E4625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762125"/>
            <a:ext cx="2476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8E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5B10A9-A8AA-406A-84BA-BA227402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7167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rPr>
              <a:t>기간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AF3426-61C0-49AC-94B2-BA71A5D1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24100"/>
            <a:ext cx="2095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4주 유료 실증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64CACB-A5FA-4542-B5C2-153F29F3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62125"/>
            <a:ext cx="2476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8E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F8E6E8-6710-47CA-83E1-677C0302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7167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rPr>
              <a:t>범위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84083E-5117-42FF-A6EF-28454A8F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2095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실제 집 2개 흐름 + 인수인계 시나리오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851924-56FA-406D-8E14-455260C9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762125"/>
            <a:ext cx="2476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8E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0142C0-4B47-43D1-9614-007DC0CB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7167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rPr>
              <a:t>판단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8AEF93-0E65-4CF4-93B0-9A0A4D07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24100"/>
            <a:ext cx="2095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재결제 의사와 업무 절감 증거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FC6A14-EC2C-454A-9825-C24F2F76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766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5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E5942"/>
                </a:solidFill>
                <a:latin typeface="Helvetica Neue"/>
                <a:ea typeface="Helvetica Neue"/>
                <a:cs typeface="Helvetica Neue"/>
              </a:rPr>
              <a:t>핵심 지표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47E80C-70EF-4E0A-9292-B5EE0D13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24765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E5942"/>
          </a:solidFill>
          <a:ln xmlns:a="http://schemas.openxmlformats.org/drawingml/2006/main" w="9525">
            <a:solidFill>
              <a:srgbClr val="0E594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CB74BB-0B21-4997-A0B9-CE4F7FA2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2247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실제 결제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743768-FF1D-4D9B-841A-6FB871C7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000500"/>
            <a:ext cx="24765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E5942"/>
          </a:solidFill>
          <a:ln xmlns:a="http://schemas.openxmlformats.org/drawingml/2006/main" w="9525">
            <a:solidFill>
              <a:srgbClr val="0E594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0F8F24-060F-4522-ADF1-D38DFE9C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33850"/>
            <a:ext cx="2247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주간 반복 사용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284ADB-B44C-4C4C-AA09-67AF5EE9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24765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8E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20650A-9FBE-4A33-88C9-17D69F93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33850"/>
            <a:ext cx="2247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등록 집 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6062A3-3C00-4099-92E6-0B0127CD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000500"/>
            <a:ext cx="24765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8E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805ED4-64C8-46B6-A68A-0AA151E2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133850"/>
            <a:ext cx="2247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초대 수락률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62B237-69F1-4A44-8E54-BE526540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24765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E5942"/>
          </a:solidFill>
          <a:ln xmlns:a="http://schemas.openxmlformats.org/drawingml/2006/main" w="9525">
            <a:solidFill>
              <a:srgbClr val="0E5942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7E3951-2F70-4AEE-A1F7-4E7A398B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2247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재방문 횟수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B605DF-870D-442E-965C-F5F3CF9E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686300"/>
            <a:ext cx="24765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E5942"/>
          </a:solidFill>
          <a:ln xmlns:a="http://schemas.openxmlformats.org/drawingml/2006/main" w="9525">
            <a:solidFill>
              <a:srgbClr val="0E5942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E0EBD0-4BCC-4AA1-9654-7193E6B7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819650"/>
            <a:ext cx="2247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처리 기간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5DC725-1BF0-4E20-B6C8-4B5A1B2E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86300"/>
            <a:ext cx="24765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8E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07957A-67DD-4C94-A5F6-CB8D8794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19650"/>
            <a:ext cx="2247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인수인계 시간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B933FC-BF34-42F3-AF99-29A129E2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686300"/>
            <a:ext cx="24765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8E4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4E2FB1-40FE-4BD2-BFE3-DEF4F910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819650"/>
            <a:ext cx="2247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PDF 사용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EE89BB-8422-4F93-9C78-32D81BCD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34125"/>
            <a:ext cx="6858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2B8DC1-6A85-4183-A2A1-FEF6B889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가설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25F814-6C77-486A-BD73-B9C74381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51652400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F1D794-B6CB-495E-A065-F937CB17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CC4F1E-F18B-4E55-8113-427BAAFE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웹앱은 검증 순서에 맞춰 네 단계로 확장합니다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AE54A9-C675-466F-9BFA-FC79B0C5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C16DED-75F4-469E-A41E-FFDCFD0B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2476500" cy="333375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8E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845439-E2C5-4349-8629-4FE0EB46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2476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594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E4C99D-AFE2-468C-A0E2-7E29897A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5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E5942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1E8F63-9EC1-40FE-879B-8018817E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27647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현재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737B1D-B955-4D53-8FD8-48D76464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095625"/>
            <a:ext cx="2000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랜딩페이지</a:t>
            </a:r>
          </a:p>
          <a:p xmlns:a="http://schemas.openxmlformats.org/drawingml/2006/main">
            <a:pPr algn="ctr">
              <a:defRPr sz="142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체험형 UI</a:t>
            </a:r>
          </a:p>
          <a:p xmlns:a="http://schemas.openxmlformats.org/drawingml/2006/main">
            <a:pPr algn="ctr">
              <a:defRPr sz="142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배포 완료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2E94A3-B20E-4152-970E-3CEFE48F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809750"/>
            <a:ext cx="2476500" cy="333375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8E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C93468-7993-4B83-A122-2821C618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809750"/>
            <a:ext cx="2476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56104F-1D88-4AB4-9FF5-D8AEBF08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3837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88FFA3-68D7-4CED-8E34-E49D8CAF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27647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유료 MVP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0255B4-19E6-4393-AD21-416A673E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095625"/>
            <a:ext cx="2000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계정·집·업무</a:t>
            </a:r>
          </a:p>
          <a:p xmlns:a="http://schemas.openxmlformats.org/drawingml/2006/main">
            <a:pPr algn="ctr">
              <a:defRPr sz="142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사진·문서</a:t>
            </a:r>
          </a:p>
          <a:p xmlns:a="http://schemas.openxmlformats.org/drawingml/2006/main">
            <a:pPr algn="ctr">
              <a:defRPr sz="142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권한·PDF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E05D8C-8E7A-4FED-B4FC-EBA1A298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476500" cy="333375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8E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668DF2-9D6B-45DD-B3DC-94981A45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476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594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095D5F-1B45-4103-9376-E80620E6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3837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5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E594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CF4194-ED3F-479D-AB4C-F35E1821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7647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현장 검증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788842-9715-4037-8C3A-8577CCAC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95625"/>
            <a:ext cx="2000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3개 사무소</a:t>
            </a:r>
          </a:p>
          <a:p xmlns:a="http://schemas.openxmlformats.org/drawingml/2006/main">
            <a:pPr algn="ctr">
              <a:defRPr sz="142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4주 반복 사용</a:t>
            </a:r>
          </a:p>
          <a:p xmlns:a="http://schemas.openxmlformats.org/drawingml/2006/main">
            <a:pPr algn="ctr">
              <a:defRPr sz="142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가격 검증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E0060E-35C5-4DAB-9CC8-5736B69A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09750"/>
            <a:ext cx="2476500" cy="333375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8E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5418A9-A5F6-4022-9090-B0BAB363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09750"/>
            <a:ext cx="2476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0716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A342D1-7316-4E25-B707-BBF60C17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3837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9BD810-D887-4BF8-8495-D8AA652F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27647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고도화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4B5215-4C20-41F7-9F25-928DDC3D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095625"/>
            <a:ext cx="2000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다가구 관리</a:t>
            </a:r>
          </a:p>
          <a:p xmlns:a="http://schemas.openxmlformats.org/drawingml/2006/main">
            <a:pPr algn="ctr">
              <a:defRPr sz="142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공유·보존정책</a:t>
            </a:r>
          </a:p>
          <a:p xmlns:a="http://schemas.openxmlformats.org/drawingml/2006/main">
            <a:pPr algn="ctr">
              <a:defRPr sz="142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OCR·AI 검토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1520AD-0C66-4F5E-ADC2-EEFAA3B0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197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A449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A4493D"/>
                </a:solidFill>
                <a:latin typeface="Helvetica Neue"/>
                <a:ea typeface="Helvetica Neue"/>
                <a:cs typeface="Helvetica Neue"/>
              </a:rPr>
              <a:t>수리기사 중개·견적 비교·앱 결제는 초기 로드맵에서 제외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367B8D-3A8A-4F75-91C7-B0F61FD8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34125"/>
            <a:ext cx="6858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0BBA62-1AE5-492E-B9B8-677DADA9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가설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4461CC-A8B0-44AE-8CA1-5693DD75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42695377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60B9F2-A5C3-4B20-8FE3-97FACB48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79A3B"/>
                </a:solidFill>
                <a:latin typeface="Helvetica Neue"/>
                <a:ea typeface="Helvetica Neue"/>
                <a:cs typeface="Helvetica Neue"/>
              </a:rPr>
              <a:t>RISKS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5629C9-5155-4D88-8422-D9099495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사업 리스크는 제품 기본값과 파일럿으로 줄입니다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06B3C0-66B5-475C-9157-4CB74B6E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67E320-35DD-42C1-A22A-28BFDD4E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449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A4493D"/>
                </a:solidFill>
                <a:latin typeface="Helvetica Neue"/>
                <a:ea typeface="Helvetica Neue"/>
                <a:cs typeface="Helvetica Neue"/>
              </a:rPr>
              <a:t>개인정보 오공개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FF59A3-DEF2-4EB6-A7A0-D626012A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000250"/>
            <a:ext cx="809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006F0F-6010-4E17-BBDC-400BD281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28800"/>
            <a:ext cx="628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계약 단위 권한·서버 인가·접근기록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377804-2213-4719-8909-1EB243A7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449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A4493D"/>
                </a:solidFill>
                <a:latin typeface="Helvetica Neue"/>
                <a:ea typeface="Helvetica Neue"/>
                <a:cs typeface="Helvetica Neue"/>
              </a:rPr>
              <a:t>도입과 입력 부담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F5767E-31E4-4844-882F-C42D6954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38450"/>
            <a:ext cx="809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AF2A88-9E37-40BD-B9C9-E7A655DB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67000"/>
            <a:ext cx="628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미리 정한 업무 흐름·역할별 첫 화면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AE1FF6-1B82-4152-B5A7-1361C479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449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A4493D"/>
                </a:solidFill>
                <a:latin typeface="Helvetica Neue"/>
                <a:ea typeface="Helvetica Neue"/>
                <a:cs typeface="Helvetica Neue"/>
              </a:rPr>
              <a:t>초대 수락 저조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21911E-7562-4FC4-B7E5-872887C5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676650"/>
            <a:ext cx="809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2F9D2A-365C-49AB-B839-3448D52B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05200"/>
            <a:ext cx="628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사무소 가치부터 단독 검증 후 초대 확장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8212A2-3C34-43E3-95B3-662B747A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005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449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A4493D"/>
                </a:solidFill>
                <a:latin typeface="Helvetica Neue"/>
                <a:ea typeface="Helvetica Neue"/>
                <a:cs typeface="Helvetica Neue"/>
              </a:rPr>
              <a:t>저장·알림 비용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A5E2B0-288A-4F20-B02A-E492769D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514850"/>
            <a:ext cx="809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9A1E28-9849-4237-A214-DC414892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43400"/>
            <a:ext cx="628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용량 제한·압축·보존 정책·핵심 알림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8FA86E-75F2-421E-AB72-8A7728DF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449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A4493D"/>
                </a:solidFill>
                <a:latin typeface="Helvetica Neue"/>
                <a:ea typeface="Helvetica Neue"/>
                <a:cs typeface="Helvetica Neue"/>
              </a:rPr>
              <a:t>기록의 법적 오인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E183AD-B690-4D3E-9ED0-600F3BC2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353050"/>
            <a:ext cx="809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3227B2-1228-4289-8C10-301147E1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81600"/>
            <a:ext cx="628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22A"/>
                </a:solidFill>
                <a:latin typeface="Helvetica Neue"/>
                <a:ea typeface="Helvetica Neue"/>
                <a:cs typeface="Helvetica Neue"/>
              </a:rPr>
              <a:t>작성자·시간·수정이력 표시, 법적 보장 표현 금지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865CD7-617D-4151-B52B-E3E6A16C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34125"/>
            <a:ext cx="6858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0716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5F3779-6A5C-4153-B1E4-4BF6923D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미결정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F0C8BB-453B-40D7-BEF7-C3F291BE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74056533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73F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76fa3e8c0942bd"/>
          <a:stretch xmlns:a="http://schemas.openxmlformats.org/drawingml/2006/main"/>
        </p:blipFill>
        <p:spPr>
          <a:xfrm xmlns:a="http://schemas.openxmlformats.org/drawingml/2006/main">
            <a:off x="7239000" y="952500"/>
            <a:ext cx="4191000" cy="4191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F56CC4-A42B-48AB-865B-3FEBDBA3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4375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D6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8D6A8"/>
                </a:solidFill>
                <a:latin typeface="Helvetica Neue"/>
                <a:ea typeface="Helvetica Neue"/>
                <a:cs typeface="Helvetica Neue"/>
              </a:rPr>
              <a:t>다음 단계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39A97C-F135-47FF-B1E6-BE26A011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6191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첫 유료 고객과</a:t>
            </a:r>
          </a:p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함께 제품을 만듭니다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C05C46-7B6E-46B7-8568-502FADD3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2381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2AD904-2836-4228-A8A6-1134E448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57550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파일럿 후보 사무소 3곳 모집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12A3B0-1B01-4DD8-98FB-7C924103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2381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4B5481-8916-46BE-B9AE-0F67E9CB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10000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MVP 범위·성공 기준 승인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5736EE-E8B5-4A08-8553-048B3B5F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2381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6A3272-3CA2-4552-96B3-B69A8973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62450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MVP 개발·개인정보 기본 통제 검수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070ACD-1BED-499D-A09B-5F104C7E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91100"/>
            <a:ext cx="2381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3135CE-2F45-440E-AF19-EFDF7022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914900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4주 유료 실증 후 가격 결정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EAB960-F57D-40EB-9465-42C390C3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8D6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E8D6A8"/>
                </a:solidFill>
                <a:latin typeface="Helvetica Neue"/>
                <a:ea typeface="Helvetica Neue"/>
                <a:cs typeface="Helvetica Neue"/>
              </a:rPr>
              <a:t>목표: 사전가입자 1,000명  |  실적이 아닌 모집 목표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4EDB40-1A5B-4014-8255-F69708DF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604837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start.zipsin.net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B64BFF-1C58-4EA9-AAFD-3B8F241B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34125"/>
            <a:ext cx="6858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8D4736-02E3-4091-9414-C5D36469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가설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350616-77CB-4ED8-BB7B-811B52F7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3358768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2026-10-02T02:45:50.0480000Z</dcterms:created>
  <dcterms:modified xsi:type="dcterms:W3CDTF">2026-10-02T02:45:50.0480000Z</dcterms:modified>
</coreProperties>
</file>