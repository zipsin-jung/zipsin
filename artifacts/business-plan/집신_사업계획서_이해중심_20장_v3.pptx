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e57e8afe0c4c8a" /><Relationship Type="http://schemas.openxmlformats.org/officeDocument/2006/relationships/extended-properties" Target="/docProps/app.xml" Id="Rad75cbf992774a9c" /><Relationship Type="http://schemas.openxmlformats.org/officeDocument/2006/relationships/officeDocument" Target="/ppt/presentation.xml" Id="R9e83b1a519cc49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539207dcbb4e7f"/>
  </p:sldMasterIdLst>
  <p:notesMasterIdLst>
    <p:notesMasterId xmlns:r="http://schemas.openxmlformats.org/officeDocument/2006/relationships" r:id="R78ed4c365e9b4984"/>
  </p:notesMasterIdLst>
  <p:sldIdLst>
    <p:sldId xmlns:r="http://schemas.openxmlformats.org/officeDocument/2006/relationships" id="256" r:id="R0c56ddc7b93d4977"/>
    <p:sldId xmlns:r="http://schemas.openxmlformats.org/officeDocument/2006/relationships" id="257" r:id="R4282fb75c4544e9b"/>
    <p:sldId xmlns:r="http://schemas.openxmlformats.org/officeDocument/2006/relationships" id="258" r:id="R0dd466f3cf8148fa"/>
    <p:sldId xmlns:r="http://schemas.openxmlformats.org/officeDocument/2006/relationships" id="259" r:id="R912c4391f9d446f7"/>
    <p:sldId xmlns:r="http://schemas.openxmlformats.org/officeDocument/2006/relationships" id="260" r:id="Ra7279dcf70504889"/>
    <p:sldId xmlns:r="http://schemas.openxmlformats.org/officeDocument/2006/relationships" id="261" r:id="Rb93133a508f344e8"/>
    <p:sldId xmlns:r="http://schemas.openxmlformats.org/officeDocument/2006/relationships" id="262" r:id="Redfd0161abab4780"/>
    <p:sldId xmlns:r="http://schemas.openxmlformats.org/officeDocument/2006/relationships" id="263" r:id="R4c18b4311a744028"/>
    <p:sldId xmlns:r="http://schemas.openxmlformats.org/officeDocument/2006/relationships" id="264" r:id="Rfca3f289fa5746b5"/>
    <p:sldId xmlns:r="http://schemas.openxmlformats.org/officeDocument/2006/relationships" id="265" r:id="Rb6e1d2ef77cb4318"/>
    <p:sldId xmlns:r="http://schemas.openxmlformats.org/officeDocument/2006/relationships" id="266" r:id="R5056b88b4d954b35"/>
    <p:sldId xmlns:r="http://schemas.openxmlformats.org/officeDocument/2006/relationships" id="267" r:id="R0bdb958072a8479b"/>
    <p:sldId xmlns:r="http://schemas.openxmlformats.org/officeDocument/2006/relationships" id="268" r:id="R9c91d922a6c54c5b"/>
    <p:sldId xmlns:r="http://schemas.openxmlformats.org/officeDocument/2006/relationships" id="269" r:id="R50dabf98a7124473"/>
    <p:sldId xmlns:r="http://schemas.openxmlformats.org/officeDocument/2006/relationships" id="270" r:id="R95eeb3074a984568"/>
    <p:sldId xmlns:r="http://schemas.openxmlformats.org/officeDocument/2006/relationships" id="271" r:id="R0290a781b3504a4e"/>
    <p:sldId xmlns:r="http://schemas.openxmlformats.org/officeDocument/2006/relationships" id="272" r:id="R02cf3e15135a40ff"/>
    <p:sldId xmlns:r="http://schemas.openxmlformats.org/officeDocument/2006/relationships" id="273" r:id="R59e5414e38184413"/>
    <p:sldId xmlns:r="http://schemas.openxmlformats.org/officeDocument/2006/relationships" id="274" r:id="R7e6b4528f3b64b7e"/>
    <p:sldId xmlns:r="http://schemas.openxmlformats.org/officeDocument/2006/relationships" id="275" r:id="Rd2a305fb54724a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0d7fe2fef54089" /><Relationship Type="http://schemas.openxmlformats.org/officeDocument/2006/relationships/slideMaster" Target="/ppt/slideMasters/slideMaster1.xml" Id="R06539207dcbb4e7f" /><Relationship Type="http://schemas.openxmlformats.org/officeDocument/2006/relationships/notesMaster" Target="/ppt/notesMasters/notesMaster1.xml" Id="R78ed4c365e9b4984" /><Relationship Type="http://schemas.openxmlformats.org/officeDocument/2006/relationships/presProps" Target="/ppt/presProps.xml" Id="R98599564f8e04169" /><Relationship Type="http://schemas.openxmlformats.org/officeDocument/2006/relationships/tableStyles" Target="/ppt/tableStyles.xml" Id="Re8b8f0d581404bfd" /><Relationship Type="http://schemas.openxmlformats.org/officeDocument/2006/relationships/slide" Target="/ppt/slides/slide1.xml" Id="R0c56ddc7b93d4977" /><Relationship Type="http://schemas.openxmlformats.org/officeDocument/2006/relationships/slide" Target="/ppt/slides/slide2.xml" Id="R4282fb75c4544e9b" /><Relationship Type="http://schemas.openxmlformats.org/officeDocument/2006/relationships/slide" Target="/ppt/slides/slide3.xml" Id="R0dd466f3cf8148fa" /><Relationship Type="http://schemas.openxmlformats.org/officeDocument/2006/relationships/slide" Target="/ppt/slides/slide4.xml" Id="R912c4391f9d446f7" /><Relationship Type="http://schemas.openxmlformats.org/officeDocument/2006/relationships/slide" Target="/ppt/slides/slide5.xml" Id="Ra7279dcf70504889" /><Relationship Type="http://schemas.openxmlformats.org/officeDocument/2006/relationships/slide" Target="/ppt/slides/slide6.xml" Id="Rb93133a508f344e8" /><Relationship Type="http://schemas.openxmlformats.org/officeDocument/2006/relationships/slide" Target="/ppt/slides/slide7.xml" Id="Redfd0161abab4780" /><Relationship Type="http://schemas.openxmlformats.org/officeDocument/2006/relationships/slide" Target="/ppt/slides/slide8.xml" Id="R4c18b4311a744028" /><Relationship Type="http://schemas.openxmlformats.org/officeDocument/2006/relationships/slide" Target="/ppt/slides/slide9.xml" Id="Rfca3f289fa5746b5" /><Relationship Type="http://schemas.openxmlformats.org/officeDocument/2006/relationships/slide" Target="/ppt/slides/slide10.xml" Id="Rb6e1d2ef77cb4318" /><Relationship Type="http://schemas.openxmlformats.org/officeDocument/2006/relationships/slide" Target="/ppt/slides/slide11.xml" Id="R5056b88b4d954b35" /><Relationship Type="http://schemas.openxmlformats.org/officeDocument/2006/relationships/slide" Target="/ppt/slides/slide12.xml" Id="R0bdb958072a8479b" /><Relationship Type="http://schemas.openxmlformats.org/officeDocument/2006/relationships/slide" Target="/ppt/slides/slide13.xml" Id="R9c91d922a6c54c5b" /><Relationship Type="http://schemas.openxmlformats.org/officeDocument/2006/relationships/slide" Target="/ppt/slides/slide14.xml" Id="R50dabf98a7124473" /><Relationship Type="http://schemas.openxmlformats.org/officeDocument/2006/relationships/slide" Target="/ppt/slides/slide15.xml" Id="R95eeb3074a984568" /><Relationship Type="http://schemas.openxmlformats.org/officeDocument/2006/relationships/slide" Target="/ppt/slides/slide16.xml" Id="R0290a781b3504a4e" /><Relationship Type="http://schemas.openxmlformats.org/officeDocument/2006/relationships/slide" Target="/ppt/slides/slide17.xml" Id="R02cf3e15135a40ff" /><Relationship Type="http://schemas.openxmlformats.org/officeDocument/2006/relationships/slide" Target="/ppt/slides/slide18.xml" Id="R59e5414e38184413" /><Relationship Type="http://schemas.openxmlformats.org/officeDocument/2006/relationships/slide" Target="/ppt/slides/slide19.xml" Id="R7e6b4528f3b64b7e" /><Relationship Type="http://schemas.openxmlformats.org/officeDocument/2006/relationships/slide" Target="/ppt/slides/slide20.xml" Id="Rd2a305fb54724a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09f3b5986747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78db2fb6e3424c" /><Relationship Type="http://schemas.openxmlformats.org/officeDocument/2006/relationships/notesMaster" Target="/ppt/notesMasters/notesMaster1.xml" Id="R501c9fc0f12c44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5fd497f50b4a18" /><Relationship Type="http://schemas.openxmlformats.org/officeDocument/2006/relationships/notesMaster" Target="/ppt/notesMasters/notesMaster1.xml" Id="Ra0831612b7644b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b79a01a44b49e4" /><Relationship Type="http://schemas.openxmlformats.org/officeDocument/2006/relationships/notesMaster" Target="/ppt/notesMasters/notesMaster1.xml" Id="Rfdc792a116a542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beab9fb75b444f" /><Relationship Type="http://schemas.openxmlformats.org/officeDocument/2006/relationships/notesMaster" Target="/ppt/notesMasters/notesMaster1.xml" Id="R7e8fe70ad06545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89cd03e153434f" /><Relationship Type="http://schemas.openxmlformats.org/officeDocument/2006/relationships/notesMaster" Target="/ppt/notesMasters/notesMaster1.xml" Id="Re585f04f65a04b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63d9bc22814ed3" /><Relationship Type="http://schemas.openxmlformats.org/officeDocument/2006/relationships/notesMaster" Target="/ppt/notesMasters/notesMaster1.xml" Id="Ra508046a230d43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ddf4c102f34c28" /><Relationship Type="http://schemas.openxmlformats.org/officeDocument/2006/relationships/notesMaster" Target="/ppt/notesMasters/notesMaster1.xml" Id="Rd9a6e7f9c0c746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37e0d5ef2740e0" /><Relationship Type="http://schemas.openxmlformats.org/officeDocument/2006/relationships/notesMaster" Target="/ppt/notesMasters/notesMaster1.xml" Id="Rd045c6e5bbbb46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8722593e1c429f" /><Relationship Type="http://schemas.openxmlformats.org/officeDocument/2006/relationships/notesMaster" Target="/ppt/notesMasters/notesMaster1.xml" Id="R8e76b7a5af804f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e06ee41e334614" /><Relationship Type="http://schemas.openxmlformats.org/officeDocument/2006/relationships/notesMaster" Target="/ppt/notesMasters/notesMaster1.xml" Id="R72ff9a51a37645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3d56f3d8934e79" /><Relationship Type="http://schemas.openxmlformats.org/officeDocument/2006/relationships/notesMaster" Target="/ppt/notesMasters/notesMaster1.xml" Id="R4735a018d23c43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a15bc9022e49ad" /><Relationship Type="http://schemas.openxmlformats.org/officeDocument/2006/relationships/notesMaster" Target="/ppt/notesMasters/notesMaster1.xml" Id="Rb6aecde7d4cd47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adb06af90e4500" /><Relationship Type="http://schemas.openxmlformats.org/officeDocument/2006/relationships/notesMaster" Target="/ppt/notesMasters/notesMaster1.xml" Id="R5dbd96eb476741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d63f1a55614cae" /><Relationship Type="http://schemas.openxmlformats.org/officeDocument/2006/relationships/notesMaster" Target="/ppt/notesMasters/notesMaster1.xml" Id="R8398790325304f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21df17483c4e89" /><Relationship Type="http://schemas.openxmlformats.org/officeDocument/2006/relationships/notesMaster" Target="/ppt/notesMasters/notesMaster1.xml" Id="R493fc27826fe40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de160050fc4991" /><Relationship Type="http://schemas.openxmlformats.org/officeDocument/2006/relationships/notesMaster" Target="/ppt/notesMasters/notesMaster1.xml" Id="R52cd640338eb4d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56e7f2828240eb" /><Relationship Type="http://schemas.openxmlformats.org/officeDocument/2006/relationships/notesMaster" Target="/ppt/notesMasters/notesMaster1.xml" Id="R462d7fe1f0d9467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9209b0dcb54b3a" /><Relationship Type="http://schemas.openxmlformats.org/officeDocument/2006/relationships/notesMaster" Target="/ppt/notesMasters/notesMaster1.xml" Id="Rd444dbe5247447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7424332a504284" /><Relationship Type="http://schemas.openxmlformats.org/officeDocument/2006/relationships/notesMaster" Target="/ppt/notesMasters/notesMaster1.xml" Id="R34021e7637e14fa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e4c17c2e0f04a3e" /><Relationship Type="http://schemas.openxmlformats.org/officeDocument/2006/relationships/notesMaster" Target="/ppt/notesMasters/notesMaster1.xml" Id="Rcd4c5fdd68474f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장에서 집신이 무엇을 하는 서비스인지 한 문장으로 정의합니다.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현장에서 실제로 시작되는 매물 의뢰 상황을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집의 기록이 여러 도구에 흩어진 현재 업무를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보조원 퇴사와 인수인계 단절은 사무소의 핵심 비용입니다.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사용자의 반복 확인 문제를 한 장에서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집신의 핵심 화면은 주소별 시간순 기록입니다.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사용 방법을 다섯 단계로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역할별 첫 화면과 접근 범위를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수리는 집신의 대표 사용 사례이며 플랫폼 전체 정의는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사진 기록의 재사용과 개인정보 기본 제외 원칙을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집 ID와 계약 단위 권한의 핵심 원칙입니다.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 결제 고객의 구체적인 경제적 가치를 설명합니다.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업무 절감 효과는 아직 가설이며 파일럿에서 측정합니다.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범위와 초기 제외 범위를 명확히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초기 고객과 제품 사용자 역할을 구분합니다.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월 99,000원과 50채는 출시 전 가격 가설입니다.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매출이 아닌 월 99,000원 기준 단순 산식입니다.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3곳 4주 유료 파일럿은 검증안이며 세부 조건은 사용자 승인 후 확정합니다.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90일의 목적은 기능 확대가 아니라 유료 수요 검증입니다.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장은 제품 정의와 다음 행동을 다시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기준 자료: 집신 제품 문서와 사용자 대화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59a866e5946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6d696ed7324e13" /><Relationship Type="http://schemas.openxmlformats.org/officeDocument/2006/relationships/slideLayout" Target="/ppt/slideLayouts/slideLayout1.xml" Id="R023354b959994d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354b959994d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bffceb3e94ede" /><Relationship Type="http://schemas.openxmlformats.org/officeDocument/2006/relationships/image" Target="/ppt/media/image.jpeg" Id="Rc9ddb3c50ba94820" /><Relationship Type="http://schemas.openxmlformats.org/officeDocument/2006/relationships/image" Target="/ppt/media/image.png" Id="R76d0f27b796341ef" /><Relationship Type="http://schemas.openxmlformats.org/officeDocument/2006/relationships/notesSlide" Target="/ppt/notesSlides/notesSlide1.xml" Id="R3569422cf55b4a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437a3b7b94118" /><Relationship Type="http://schemas.openxmlformats.org/officeDocument/2006/relationships/notesSlide" Target="/ppt/notesSlides/notesSlide2.xml" Id="Re7efe2f30dd745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0d85bd5904fdf" /><Relationship Type="http://schemas.openxmlformats.org/officeDocument/2006/relationships/notesSlide" Target="/ppt/notesSlides/notesSlide3.xml" Id="R18ec05b747d649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c35646609495a" /><Relationship Type="http://schemas.openxmlformats.org/officeDocument/2006/relationships/notesSlide" Target="/ppt/notesSlides/notesSlide4.xml" Id="R430666bd93014c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4f22e03d84050" /><Relationship Type="http://schemas.openxmlformats.org/officeDocument/2006/relationships/notesSlide" Target="/ppt/notesSlides/notesSlide5.xml" Id="R6deedd6806044f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ddd54bd5641e2" /><Relationship Type="http://schemas.openxmlformats.org/officeDocument/2006/relationships/image" Target="/ppt/media/image2.png" Id="Rf004012f7c9242ea" /><Relationship Type="http://schemas.openxmlformats.org/officeDocument/2006/relationships/notesSlide" Target="/ppt/notesSlides/notesSlide6.xml" Id="R4ca2ee996a3247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07042043e4e84" /><Relationship Type="http://schemas.openxmlformats.org/officeDocument/2006/relationships/image" Target="/ppt/media/image3.png" Id="Rca57693220294d66" /><Relationship Type="http://schemas.openxmlformats.org/officeDocument/2006/relationships/notesSlide" Target="/ppt/notesSlides/notesSlide7.xml" Id="R800cd4c7dce94d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3ce7f9ecb49f2" /><Relationship Type="http://schemas.openxmlformats.org/officeDocument/2006/relationships/image" Target="/ppt/media/image4.png" Id="R2b3eb4b70f574925" /><Relationship Type="http://schemas.openxmlformats.org/officeDocument/2006/relationships/notesSlide" Target="/ppt/notesSlides/notesSlide8.xml" Id="R69983d11abe442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5b2577e58482f" /><Relationship Type="http://schemas.openxmlformats.org/officeDocument/2006/relationships/image" Target="/ppt/media/image5.png" Id="Rb2b378112e9249c6" /><Relationship Type="http://schemas.openxmlformats.org/officeDocument/2006/relationships/notesSlide" Target="/ppt/notesSlides/notesSlide9.xml" Id="Re9ff304bc20941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90ff02e074035" /><Relationship Type="http://schemas.openxmlformats.org/officeDocument/2006/relationships/image" Target="/ppt/media/image6.png" Id="R7cb15c9f407445de" /><Relationship Type="http://schemas.openxmlformats.org/officeDocument/2006/relationships/notesSlide" Target="/ppt/notesSlides/notesSlide10.xml" Id="R6b3c00e9d8874c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abf84e9f54fdb" /><Relationship Type="http://schemas.openxmlformats.org/officeDocument/2006/relationships/notesSlide" Target="/ppt/notesSlides/notesSlide11.xml" Id="R2fc33ee3584545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e49b767a4a27" /><Relationship Type="http://schemas.openxmlformats.org/officeDocument/2006/relationships/notesSlide" Target="/ppt/notesSlides/notesSlide12.xml" Id="Rd92fa978d4594b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195022857487a" /><Relationship Type="http://schemas.openxmlformats.org/officeDocument/2006/relationships/notesSlide" Target="/ppt/notesSlides/notesSlide13.xml" Id="Rae157953c56f4b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41ab887ca4c4a" /><Relationship Type="http://schemas.openxmlformats.org/officeDocument/2006/relationships/image" Target="/ppt/media/image7.png" Id="Rd6a8f66bf25b44a3" /><Relationship Type="http://schemas.openxmlformats.org/officeDocument/2006/relationships/notesSlide" Target="/ppt/notesSlides/notesSlide14.xml" Id="Rdd09af2fa20741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6ed89fff8441c" /><Relationship Type="http://schemas.openxmlformats.org/officeDocument/2006/relationships/notesSlide" Target="/ppt/notesSlides/notesSlide15.xml" Id="Rc4a9959511694c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81975a8c240f6" /><Relationship Type="http://schemas.openxmlformats.org/officeDocument/2006/relationships/notesSlide" Target="/ppt/notesSlides/notesSlide16.xml" Id="R8aa04611f5fe415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5bae51015487e" /><Relationship Type="http://schemas.openxmlformats.org/officeDocument/2006/relationships/chart" Target="/ppt/slides/charts/chart1.xml" Id="R7fad3da575554f50" /><Relationship Type="http://schemas.openxmlformats.org/officeDocument/2006/relationships/notesSlide" Target="/ppt/notesSlides/notesSlide17.xml" Id="Rc80b4f17fba847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7fb753fdd4908" /><Relationship Type="http://schemas.openxmlformats.org/officeDocument/2006/relationships/notesSlide" Target="/ppt/notesSlides/notesSlide18.xml" Id="R26d484408851448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7103a4ded4fac" /><Relationship Type="http://schemas.openxmlformats.org/officeDocument/2006/relationships/notesSlide" Target="/ppt/notesSlides/notesSlide19.xml" Id="R27729e0c6a0e43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d51a2da50471c" /><Relationship Type="http://schemas.openxmlformats.org/officeDocument/2006/relationships/image" Target="/ppt/media/image2.jpeg" Id="R0a21280fe93749a8" /><Relationship Type="http://schemas.openxmlformats.org/officeDocument/2006/relationships/notesSlide" Target="/ppt/notesSlides/notesSlide20.xml" Id="R9b54479d300f444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월 구독매출</c:v>
          </c:tx>
          <c:spPr>
            <a:solidFill xmlns:a="http://schemas.openxmlformats.org/drawingml/2006/main">
              <a:srgbClr val="176B55"/>
            </a:solidFill>
          </c:spPr>
          <c:cat>
            <c:strRef>
              <c:f>'Chart Data'!$A$2:$A$5</c:f>
              <c:strCache>
                <c:ptCount val="4"/>
                <c:pt idx="0">
                  <c:v>5곳</c:v>
                </c:pt>
                <c:pt idx="1">
                  <c:v>10곳</c:v>
                </c:pt>
                <c:pt idx="2">
                  <c:v>20곳</c:v>
                </c:pt>
                <c:pt idx="3">
                  <c:v>50곳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495000</c:v>
                </c:pt>
                <c:pt idx="1">
                  <c:v>990000</c:v>
                </c:pt>
                <c:pt idx="2">
                  <c:v>1980000</c:v>
                </c:pt>
                <c:pt idx="3">
                  <c:v>4950000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db3c50ba94820"/>
          <a:stretch xmlns:a="http://schemas.openxmlformats.org/drawingml/2006/main"/>
        </p:blipFill>
        <p:spPr>
          <a:xfrm xmlns:a="http://schemas.openxmlformats.org/drawingml/2006/main">
            <a:off x="642938" y="495300"/>
            <a:ext cx="657225" cy="571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85B3E-EEB4-4402-95C3-01D9D02B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집 한 채의 모든 기록과</a:t>
            </a:r>
          </a:p>
          <a:p xmlns:a="http://schemas.openxmlformats.org/drawingml/2006/main">
            <a:pPr algn="l">
              <a:defRPr sz="36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다음 할 일을 함께 보는 서비스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E24255-DACB-47CA-B05D-F2683902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공인중개사 · 임대인 · 임차인이 같은 집의 현재 상태를 봅니다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0f27b796341ef"/>
          <a:stretch xmlns:a="http://schemas.openxmlformats.org/drawingml/2006/main"/>
        </p:blipFill>
        <p:spPr>
          <a:xfrm xmlns:a="http://schemas.openxmlformats.org/drawingml/2006/main">
            <a:off x="8286750" y="2279563"/>
            <a:ext cx="3238500" cy="1822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7A20E-847D-4D82-9493-3D8B14A0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6858000" cy="100012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E443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1A701-68FB-49FD-91D9-AFFDC5EA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863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집신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C4103-523E-4A45-AC7A-047A8C80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6725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사진, 계약서, 수리, 대화와 할 일을 주소 하나에 모읍니다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394C1-7A5C-432D-B452-9E3FD002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0"/>
            <a:ext cx="614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수리 중개 서비스가 아니라 집의 기록과 업무를 이어주는 프로그램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4D06A-E26B-4A9F-AEDA-6B309269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4033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14170-D663-40DB-A437-018671C1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임대인의 전화 한 통으로 일이 시작됩니다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8228B-E2AF-4881-8610-A12E915A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23717-D023-44B9-AFC0-84874434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E1A8A-544B-4244-A6CB-43372E7B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“사장님, 집 다시 내놓아 주세요.”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EE687-B3A1-40CC-ABC0-4579B61F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공인중개사는 광고를 올리기 전에 네 가지를 다시 확인합니다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6EF91-C56C-44DA-898E-C50FB960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60167-BC76-491D-A9F3-02CE3311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908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사진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AAA5A-1EDC-443F-9015-52B524AB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908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지금도 쓸 수 있는가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381FB-0E95-45AF-AC35-60EEA7AF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043CC-A7C1-420B-B68C-5FFF1701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290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수리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B7B37-A016-4979-8586-97ED6458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29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고친 곳이 어디인가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4555A-E5A1-4D7E-90D7-A802B639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BE977-390D-469C-8639-2DA3B60F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672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계약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A3EF5-0297-4EB0-B0BB-62D66A16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672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언제 비는 집인가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C4464-2063-4D5A-93A1-ECCED6C1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91C26-B6B5-4B1D-ADC0-8E897FE5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05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연락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F5AE6-D2B1-476F-A710-8BA22D03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05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누구에게 확인해야 하는가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F9235-EEC9-4228-ADDA-C8877D02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57375"/>
            <a:ext cx="36195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AAE93-E9A7-4C49-A834-C766F74A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38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오늘 필요한 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0FCAA-EFA0-4531-AE33-71335A04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이 집은</a:t>
            </a:r>
          </a:p>
          <a:p xmlns:a="http://schemas.openxmlformats.org/drawingml/2006/main">
            <a:pPr algn="l">
              <a:defRPr sz="24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지금 광고해도 되는가?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117A75-56D3-4085-BDDD-A7283F57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현재 사진 · 수리 상태 · 입주 가능일 · 임대인 확인</a:t>
            </a:r>
          </a:p>
        </p:txBody>
      </p:sp>
    </p:spTree>
    <p:extLst>
      <p:ext uri="{BB962C8B-B14F-4D97-AF65-F5344CB8AC3E}">
        <p14:creationId xmlns:p14="http://schemas.microsoft.com/office/powerpoint/2010/main" val="19856035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6520AE-2445-4405-BB10-0953F987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답을 찾으려면 다섯 곳을 다시 뒤져야 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D44EE-FE48-4DFC-BF46-F9144E59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FE3D7-2972-428A-8B47-7309E14A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E0B48-A1A4-4BC8-A925-056F5CB4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CE0AB-E195-4727-B25B-D61DEAD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전화·문자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134FB-76FA-4746-A73B-088FB95B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요청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2A494-0325-4DFC-9EF7-71912E1E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86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62D08-8AF8-4F67-AC5D-0A6EBB5E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097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6D4CF-627B-4C9A-BBBF-38B5E061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383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카카오톡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240FC-EBE6-4CF7-9CE7-444AEBB2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14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임대인 대화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0D456-08CC-4490-B9A3-53CD6600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86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18086-1626-4DC2-BED1-FFE5E168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8097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8DC48-0372-4DBB-BB4B-0AF27631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2383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사진첩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1DC07-0367-43FA-B5FF-DACA3651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714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집 내부 사진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DB468-1BDE-4003-A031-DEC0D202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86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030D3-FF5A-44FD-A182-2DBB2E95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097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A774A-2D3C-4549-BD15-C9E33835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2383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PC 폴더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DF9AE-FE8E-4F34-BFB2-5CAACB0A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14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계약서·영수증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0907D-5AC3-41D8-80B4-CA84CD5C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86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2CD71-48D7-44F1-A229-733BD78B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8097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0B4FE-744A-4CC3-82EA-9455F1D5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3837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종이 파일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8B080C-82CB-453A-B9BD-75120484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146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서명 원본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15657-9323-4267-A2E8-B22EC125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990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EE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5D94B-22CC-4518-A38A-65A13A88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671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결과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F79A0-5930-4BE3-8945-DF94DF87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9814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다시 전화하고, 사진을 요청하고, 부족하면 집을 다시 방문합니다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95E865-AD06-4BA0-B991-049A779D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529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기록은 있지만 집 한 채의 현재 상태로 연결되어 있지 않습니다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4C9EBF-F8D9-42A7-9F74-4A62D8CF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72125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문제는 저장 공간이 아니라 연결입니다</a:t>
            </a:r>
          </a:p>
        </p:txBody>
      </p:sp>
    </p:spTree>
    <p:extLst>
      <p:ext uri="{BB962C8B-B14F-4D97-AF65-F5344CB8AC3E}">
        <p14:creationId xmlns:p14="http://schemas.microsoft.com/office/powerpoint/2010/main" val="3314998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9E3F5-7543-4E50-85F1-9E2289C1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보조원이 바뀌면 업무 기록도 함께 끊깁니다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ED125-B71C-4CA4-8785-61A53965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C81D3-6A64-4B0C-B881-87A04B54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F5BF8-D9DC-4B04-81DE-3FF3D7FD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어제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5328A-0E55-4E47-BF3A-845D9AAC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보조원 개인 휴대전화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81E21-1ED3-4954-92C5-44E71155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사진 · 임대인 연락처 · 수리기사 대화 · 다음 할 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85949-3227-4D7A-BE37-F2E96AD9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오늘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C85DA-157A-4035-B5E1-76D43648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새 보조원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03C5B-8AB6-41AA-9141-DDB68DCD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400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무엇을 했는지 모름</a:t>
            </a:r>
          </a:p>
          <a:p xmlns:a="http://schemas.openxmlformats.org/drawingml/2006/main">
            <a:pPr algn="l">
              <a:defRPr sz="150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누구에게 연락할지 모름</a:t>
            </a:r>
          </a:p>
          <a:p xmlns:a="http://schemas.openxmlformats.org/drawingml/2006/main">
            <a:pPr algn="l">
              <a:defRPr sz="150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다음 할 일을 모름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545A1-E847-404F-B168-8B4F9809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4953000" cy="3476625"/>
          </a:xfrm>
          <a:prstGeom xmlns:a="http://schemas.openxmlformats.org/drawingml/2006/main" prst="roundRect">
            <a:avLst>
              <a:gd name="adj" fmla="val 6027"/>
            </a:avLst>
          </a:prstGeom>
          <a:solidFill xmlns:a="http://schemas.openxmlformats.org/drawingml/2006/main">
            <a:srgbClr val="0E443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4A342-B2FE-4D6B-9F9E-388D0219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대표 공인중개사가 다시 시작합니다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2015A-3004-4A4D-B72A-3E615A65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00375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1. 임대인에게 다시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2. 기존 사진과 계약서 재수집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3. 수리 진행 상태 재확인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8EEA5-E4E0-4971-929A-9FF7DCB7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6262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사람이 바뀌어도 집의 업무는 이어져야 합니다</a:t>
            </a:r>
          </a:p>
        </p:txBody>
      </p:sp>
    </p:spTree>
    <p:extLst>
      <p:ext uri="{BB962C8B-B14F-4D97-AF65-F5344CB8AC3E}">
        <p14:creationId xmlns:p14="http://schemas.microsoft.com/office/powerpoint/2010/main" val="1481188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361DF-E980-49DF-82EB-7EF246FB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같은 집을 두고 세 사람이 같은 질문을 반복합니다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FB651-4427-470C-BD9D-91354DA2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750C0-5CFF-4A9A-AA0A-8184B913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9CB03-089F-440C-B55B-B5628C95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공인중개사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257C2-F895-4800-9EC6-0F4A04D4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621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사진이 최신인가요?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17B12-96DE-41E7-8923-EE04B353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621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수리가 끝났나요?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D862E-B55B-4CBB-8E16-71A49BB3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38375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58A3D-0979-4B9C-89BA-CF223C1D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임대인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F59B4-0095-48B0-9E4F-65A04BC8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광고를 올렸나요?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A7C23-C448-4C89-8339-BA04EE12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수리 진행은 어디까지인가요?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E82A5-71A2-4EA8-A2BD-802267C7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19010-9C34-4F9B-B2D0-4F9FD2E0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임차인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41BAC-BF04-4815-804F-BE39724E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33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요청이 접수됐나요?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B53A1-57C4-4AF4-B0AF-97A008D1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338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언제 처리되나요?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64C64-7560-4C5A-B0ED-0B58B7FC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0125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3B385-FEAA-4C5A-84EC-B8EF8906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72125"/>
            <a:ext cx="8858250" cy="523875"/>
          </a:xfrm>
          <a:prstGeom xmlns:a="http://schemas.openxmlformats.org/drawingml/2006/main" prst="roundRect">
            <a:avLst>
              <a:gd name="adj" fmla="val 25455"/>
            </a:avLst>
          </a:prstGeom>
          <a:solidFill xmlns:a="http://schemas.openxmlformats.org/drawingml/2006/main">
            <a:srgbClr val="0E443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DDDC1-6FF9-4ADC-BB09-DF491362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7150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한 번 기록하면 관계자 모두가 같은 상태를 볼 수 있어야 합니다</a:t>
            </a:r>
          </a:p>
        </p:txBody>
      </p:sp>
    </p:spTree>
    <p:extLst>
      <p:ext uri="{BB962C8B-B14F-4D97-AF65-F5344CB8AC3E}">
        <p14:creationId xmlns:p14="http://schemas.microsoft.com/office/powerpoint/2010/main" val="5586293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985A1-5996-4B67-AFC3-6CD439F6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집신은 주소 하나에 집의 타임라인을 만듭니다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AAD9D-1E4E-49FB-A38E-BF738F35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004E9-635D-45AC-AFA1-29C1A152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4012f7c9242ea"/>
          <a:stretch xmlns:a="http://schemas.openxmlformats.org/drawingml/2006/main"/>
        </p:blipFill>
        <p:spPr>
          <a:xfrm xmlns:a="http://schemas.openxmlformats.org/drawingml/2006/main">
            <a:off x="666750" y="2368603"/>
            <a:ext cx="4953000" cy="27875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7DBB7-D1A9-4473-8193-52DB1490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서울시 ○○구 ○○로 101호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9D915-01A5-414E-B783-8B424E01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3월 2일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70178-AB51-45AF-93C4-689D6296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임대인이 매물 등록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DEC16-2162-48A9-88DD-70376364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194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3월 3일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7529B-8A2F-426E-A93A-0F9CF9CA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194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광고용 사진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2B0E6-E27D-43E7-9E92-4C2B011E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3월 5일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6BB5B-739D-40CE-A33E-CDBD3082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57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도배 수리 시작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165C7-24A4-49E4-9F64-11DE64B3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3월 7일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4FEB9-9BFE-4D75-BFE3-52EAEAC0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2957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수리 완료 사진 등록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B762E-B176-45B2-A0E3-DE130132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3월 8일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E2444-F38C-4FD8-851A-96308D19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9339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광고 게시 완료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CA1CA-A2FC-43C1-A800-E26921E6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626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누가 무엇을 했고 다음에 무엇을 해야 하는지 한 화면에서 봅니다</a:t>
            </a:r>
          </a:p>
        </p:txBody>
      </p:sp>
    </p:spTree>
    <p:extLst>
      <p:ext uri="{BB962C8B-B14F-4D97-AF65-F5344CB8AC3E}">
        <p14:creationId xmlns:p14="http://schemas.microsoft.com/office/powerpoint/2010/main" val="19398671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93DD65-3AAA-48E8-921E-AE4B315C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집 등록부터 기록 재사용까지 다섯 단계입니다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F67E3-2181-4E5B-9110-31CF95E3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78487-BD2D-4EFA-AB30-4AF1860A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7693220294d66"/>
          <a:stretch xmlns:a="http://schemas.openxmlformats.org/drawingml/2006/main"/>
        </p:blipFill>
        <p:spPr>
          <a:xfrm xmlns:a="http://schemas.openxmlformats.org/drawingml/2006/main">
            <a:off x="666750" y="2749831"/>
            <a:ext cx="3429000" cy="19298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918B9-57AD-488D-AB32-AAE16723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716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7AB9D-50FD-455F-BCF0-46D316A4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71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집 등록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117FF-E7A4-45D0-A374-ED5487D2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주소를 넣으면 집 ID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5314D-2757-45BB-8E65-9ACBFD96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479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1447B-EA93-47AF-AB17-70930D9F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479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관계자 초대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239C5-3C6A-47BE-AA21-C9651229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479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임대인·임차인·직원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4709F-25D1-438F-B77F-1A8BA04C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242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F4AC6-8DE8-4CE4-B0A0-39CB82EE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242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기록 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AB4C5-41C4-4876-980E-25D76411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242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사진·문서·대화·일정 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E38F6-1A5A-416F-BB03-5ECADCB2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005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BB7D5-D8B9-4EA9-A759-EA19B86E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005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상태 변경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F2F58-7D9D-41F3-ACA4-30BFF171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접수·진행·완료 표시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747AF-60D9-4D0C-AFB7-9828E1F1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7682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50AC3-C404-495E-8A92-4048DD6E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768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다시 사용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9EF2BD-1C98-4537-B4DD-55D4CC4A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76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광고·인수인계·PDF에 활용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9C98C-81FE-44CC-ABC8-D3EA68FF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9531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새 업무가 생길 때마다 처음부터 찾지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1065472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2EF0C-09E2-4913-AB2D-3D824E80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사용자마다 필요한 화면과 권한이 다릅니다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A5E82-CEBD-48B2-A13B-7385856D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2B8E3-E226-4FAD-B52F-30DADF14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eb4b70f574925"/>
          <a:stretch xmlns:a="http://schemas.openxmlformats.org/drawingml/2006/main"/>
        </p:blipFill>
        <p:spPr>
          <a:xfrm xmlns:a="http://schemas.openxmlformats.org/drawingml/2006/main">
            <a:off x="666750" y="1815703"/>
            <a:ext cx="4810125" cy="36075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25D3F-0221-4C9C-B459-E1868A4F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대표 공인중개사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096B9-8DD1-462E-8562-5ABDD407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모든 집의 상태, 직원 배정, 업무 이전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25CB3-EFE4-4CB9-BB66-D0176950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보조원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0D169-3B4D-4751-8D20-23226A86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배정된 집, 오늘 할 일, 처리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C370C-A172-4632-A1BF-0E7B80E1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14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임대인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548B9-89DC-4AF9-864B-762F0BE7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내 집의 광고·수리·계약 진행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ED793-CEEC-4894-8686-B6C051F1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67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임차인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94E1F-0F8D-4FC2-8F27-C9230E76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현재 계약과 내가 요청한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DABAB-B6EF-40B5-9E4D-8CBC8605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578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주소만 안다고 기록을 볼 수는 없습니다</a:t>
            </a:r>
          </a:p>
        </p:txBody>
      </p:sp>
    </p:spTree>
    <p:extLst>
      <p:ext uri="{BB962C8B-B14F-4D97-AF65-F5344CB8AC3E}">
        <p14:creationId xmlns:p14="http://schemas.microsoft.com/office/powerpoint/2010/main" val="9476733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F6B44-EA13-437C-BDF5-92908AB3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수리 전·중·후를 같은 사건으로 묶습니다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7375D-AD36-4868-A533-7BF98FD5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BD7A2-1594-42FC-AD0C-6E545F53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378112e9249c6"/>
          <a:stretch xmlns:a="http://schemas.openxmlformats.org/drawingml/2006/main"/>
        </p:blipFill>
        <p:spPr>
          <a:xfrm xmlns:a="http://schemas.openxmlformats.org/drawingml/2006/main">
            <a:off x="666750" y="2609833"/>
            <a:ext cx="4095750" cy="230508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AC50D-DEEF-4F99-BC3C-628C059A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09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수리 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CD9C1-230A-44C9-B6BC-2BE2C6AF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고장 사진·요청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275C8-FE3E-48DF-9147-24B11A5C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E5D51-FA02-4656-A21E-8B8960AF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003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수리 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60271-30F6-46CC-934D-2E295CE1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037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작업 사진·예정일·담당자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C668F-EE7D-468A-B6CE-F1F8F49C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9911C-764D-4C19-AD2F-581C7350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191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수리 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E5996-98F3-4D60-A7F6-5911ECC7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완료 사진·영수증·확인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AF1DE-5BEF-4B65-857C-F1344B5C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81625"/>
            <a:ext cx="5667375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E443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74C4D-B2AC-4B0C-80C1-1594A561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43550"/>
            <a:ext cx="566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세 사람 모두 진행 상태를 따로 묻지 않아도 됩니다</a:t>
            </a:r>
          </a:p>
        </p:txBody>
      </p:sp>
    </p:spTree>
    <p:extLst>
      <p:ext uri="{BB962C8B-B14F-4D97-AF65-F5344CB8AC3E}">
        <p14:creationId xmlns:p14="http://schemas.microsoft.com/office/powerpoint/2010/main" val="455681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F4CC4-C285-400C-9BC2-F6267A01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입주 전후 사진과 계약 자료를 한 번에 꺼냅니다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40A04-E92C-492E-8753-AB8B056E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2CB73-FD98-49E2-86FA-4B3D0D0F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15c9f407445de"/>
          <a:stretch xmlns:a="http://schemas.openxmlformats.org/drawingml/2006/main"/>
        </p:blipFill>
        <p:spPr>
          <a:xfrm xmlns:a="http://schemas.openxmlformats.org/drawingml/2006/main">
            <a:off x="666750" y="2609833"/>
            <a:ext cx="4095750" cy="230508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66BAE-479F-48A9-AD7A-49A66CC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7621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입주 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173C6-A941-4D8F-A7BC-7AFB02CB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벽·바닥·가전 상태 기록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FD4FD-F953-4C0C-B028-EFF0FF70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71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퇴거 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21BB9-AC8D-4334-90E7-85412455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같은 위치의 사진과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C6792-CECE-4262-A49B-257FCF16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813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분쟁 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C9795-B8CF-4CDD-8D4B-82F0A7A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필요한 기록만 골라 PDF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F947E-0E50-40E4-88A0-FF6FC1E7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429125"/>
            <a:ext cx="5381625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46412-B227-471E-A08A-A76BFC66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67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계약서·계좌번호·개인정보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6DC3C-9647-4825-A4BB-6D0359B6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95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권한에 따라 보이고 PDF에서는 기본 제외</a:t>
            </a:r>
          </a:p>
        </p:txBody>
      </p:sp>
    </p:spTree>
    <p:extLst>
      <p:ext uri="{BB962C8B-B14F-4D97-AF65-F5344CB8AC3E}">
        <p14:creationId xmlns:p14="http://schemas.microsoft.com/office/powerpoint/2010/main" val="3056152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30B7E-3D3A-410D-8536-21A42588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집키가 기록과 사람을 안전하게 연결합니다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E6708-0B25-49FE-86E1-753F8E20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30622-BBC6-4184-A24D-92189F7A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B66C3-F6D7-43C3-890E-05F9FB99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66875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집키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B3CE8-07E3-4E3C-805B-6E226AAC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383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시스템 자동 생성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B4261-5DB5-40BE-BAE9-0E12D819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476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EE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E916A-D06A-4E1D-AAB7-207CB2C5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대표·보조원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753CF-E387-4BB9-A44B-AD14024C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사무소 업무 권한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F4844-8FD0-4CBF-8118-0225BDF7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0"/>
            <a:ext cx="2476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94498-8398-4736-A7C3-4D5717CE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766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임대인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D9D37-4346-442D-A5A1-FE7442AD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95287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집 연결과 참여 승인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BB1B4-7EBB-4CE9-97AA-61BA9C0D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2476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38C62-9E55-427A-B2AB-0BF99F52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임차인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61F48-3FD0-4979-A01F-A87543A8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5287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현재 계약 범위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33406-F7D3-4C3C-A6C2-C0388F60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38500"/>
            <a:ext cx="2476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7D8DB-CA3A-4B7A-9D2F-EB6EB24C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수리기사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B69D1B-F506-41EC-B0BC-8DFC0210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95287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해당 작업 범위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A6224-D6AC-4AA8-9B62-F85E60B9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8637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계약이 바뀌면 접근 권한도 새로 시작합니다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50AA1-AC52-47EF-8DBC-BB81E614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10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이전 임차인의 연락처·대화·계좌정보는 다음 계약에 넘어가지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5034225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DBBF2-C780-4E7B-BCBB-82C45701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공인중개사무소가 돈을 내는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B1C54-6E14-4570-B0EF-1F51D1BC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B1372-D1F6-4CDA-B7CB-B39A0EFB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ADF90-ED25-4EB6-AF96-299389E8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재방문 감소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F82A8-D6A0-4468-B16D-CE534D3F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최신 사진과 수리 상태를 원격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5660D-D662-4AD5-B66E-6A3854F0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2A556-3403-4574-AA2C-DBEDBAE3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반복 연락 감소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EEF9A-2B83-4FA3-9A9A-BCB366AF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670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관계자가 같은 진행 상태를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2C9C3-ABEF-4D08-9EB3-8F02D458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5755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2DAA40-C0D8-498C-B214-5DAA5338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인수인계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E4CAB-E354-4395-BDCB-0D379DC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6712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직원이 바뀌어도 기록과 다음 할 일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3E5D2-B2D3-4902-B111-2FED39C1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57675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EABD1-DE5A-44FD-9F9E-0C1DB027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광고 준비 단축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A49DF-1DF7-48F6-8C77-4CDE47FB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672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과거 사진과 변경사항을 바로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28C23-FBCC-4E0D-A71E-A517DDAA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57800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6893D-218E-4335-93C8-A9B252D8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15000"/>
            <a:ext cx="7905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443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6014C-31C9-4FAE-991B-21DD5C4D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829300"/>
            <a:ext cx="790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결제 기준은 저장 용량이 아니라 줄어든 업무 시간입니다</a:t>
            </a:r>
          </a:p>
        </p:txBody>
      </p:sp>
    </p:spTree>
    <p:extLst>
      <p:ext uri="{BB962C8B-B14F-4D97-AF65-F5344CB8AC3E}">
        <p14:creationId xmlns:p14="http://schemas.microsoft.com/office/powerpoint/2010/main" val="8987108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E42EB-DE73-46B2-9EFF-444D5BC9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하루 업무가 ‘찾기’에서 ‘처리하기’로 바뀝니다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8C8E0-F778-4854-B165-665ADFC6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98E7C-FD1F-443B-9901-E3597DA3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B1352-6B28-489E-8441-98CD8791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현재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73710-9131-4A1E-ACD1-8F0E05F7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사진 찾기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B7493-287F-423D-BC12-EE3D08B7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9075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B0950-DFD6-48FE-BE14-7191822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임대인 연락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05A10-B32F-4281-AAE8-B7CF717F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CA665-A81F-4189-A4F4-C85BC1D6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383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수리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B2A5D-E545-4494-BAEA-1324023D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9075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1FA26-AF91-43CD-861A-7794D8EF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383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보조원에게 재설명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7BA29-B076-48C7-AE27-5B642946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B70CF-B862-4A2C-824C-E328D924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3837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집 재방문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FA09B-62F9-4123-970A-EE5888DF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집신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C999F-0B82-4841-AABD-D1A364DD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집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C48F0-4E97-44C5-9A79-CEBA9740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91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B84F1-9773-445E-BFDD-13590D92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386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현재 상태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DF6A4-8F75-4D2F-8BA9-12D6AEA5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91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50683-56A3-4938-9CBD-9DE9F548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386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담당자 처리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18495-F217-404B-B7F7-F1015B61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91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DD5D3-21FF-49D0-B4FC-4C1E4C43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386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완료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17B98A-C13F-4E4A-94B7-F5E50944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91000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53579-77AD-47F2-B510-4F5C4C37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238625"/>
            <a:ext cx="176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다음에 재사용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681151-AA24-4986-9EED-22BFC1A8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유료 파일럿에서 검색 시간·연락 횟수·재방문 횟수를 측정합니다</a:t>
            </a:r>
          </a:p>
        </p:txBody>
      </p:sp>
    </p:spTree>
    <p:extLst>
      <p:ext uri="{BB962C8B-B14F-4D97-AF65-F5344CB8AC3E}">
        <p14:creationId xmlns:p14="http://schemas.microsoft.com/office/powerpoint/2010/main" val="14721302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1D7C7E-2851-4132-9CD8-210EBD80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첫 유료 제품은 다섯 기능에 집중합니다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65FDC-B887-45F6-9F69-D8C968EE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65A92-2524-4D42-85C9-637CCD31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8f66bf25b44a3"/>
          <a:stretch xmlns:a="http://schemas.openxmlformats.org/drawingml/2006/main"/>
        </p:blipFill>
        <p:spPr>
          <a:xfrm xmlns:a="http://schemas.openxmlformats.org/drawingml/2006/main">
            <a:off x="666750" y="2693234"/>
            <a:ext cx="3714750" cy="209065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9EA63-AF32-4D34-A4B6-6626BC05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66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DF43D-886D-476C-8772-447ED45A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668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집·호실 등록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BC6F9-9820-41D7-80B0-970F188D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84864-2E14-4FA9-9A2E-0CF0B776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812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관계자 초대와 권한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2C47A-AABF-4264-A5D2-F8699F06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956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AEE1B-4760-427B-A5F4-0CBC26E7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956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사진·문서·대화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E09D2-1F7E-4827-885B-25127A3C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100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A4BB0-C177-4B25-AFD5-BE1392D9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상태·담당자·다음 할 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D8EE7-128B-4722-A999-6C6FC917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24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14586-EEA6-4497-AD4A-B0F852DE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243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선택 기록 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C5F5A-0E80-4462-A798-CDD753C8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초기 제외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BEF19-4238-4736-99D8-4D634D30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수리기사 매칭 · 견적 비교 · 앱 결제 · AI 진단</a:t>
            </a:r>
          </a:p>
        </p:txBody>
      </p:sp>
    </p:spTree>
    <p:extLst>
      <p:ext uri="{BB962C8B-B14F-4D97-AF65-F5344CB8AC3E}">
        <p14:creationId xmlns:p14="http://schemas.microsoft.com/office/powerpoint/2010/main" val="17632832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EA2F0-F9B4-4145-83D4-3C8BEA82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첫 고객은 여러 집을 관리하는 공인중개사무소입니다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C8800-A7BB-4526-9266-B56C1AF5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AE242-659A-4805-8B6D-4E63F009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BB5F0-C879-4F80-8425-0857BBA4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왜 공인중개사무소인가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A8317-460E-47FB-9861-4C730D9E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2304D-273E-464D-9D6E-12BD888E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050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한 사무소가 여러 집을 동시에 관리합니다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38D3A-E7E8-4B00-9C9C-6067C98E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A7405-50DA-4FE7-AD2F-D5491FCA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대표와 보조원이 같은 업무를 나눠 처리합니다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C1C76-395F-4011-93B8-15BB1EBB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22CD8-C2FF-487B-822D-58D91A9F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385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임대인·임차인을 집신으로 초대할 수 있습니다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72066-F8CC-4C7C-9D5D-C93E3D91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040CD-6D69-4333-A36E-68ED2C7D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업무 절감 효과가 생기면 사무소가 비용을 냅니다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E97F0-A18C-4341-8F1C-7AA647D5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905250" cy="3381375"/>
          </a:xfrm>
          <a:prstGeom xmlns:a="http://schemas.openxmlformats.org/drawingml/2006/main" prst="roundRect">
            <a:avLst>
              <a:gd name="adj" fmla="val 6197"/>
            </a:avLst>
          </a:prstGeom>
          <a:solidFill xmlns:a="http://schemas.openxmlformats.org/drawingml/2006/main">
            <a:srgbClr val="0E443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CEFF7-664A-4D9A-A0A8-48C2DBAE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95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도입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9C0E1-8E00-4622-BA11-EAA11A00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622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공인중개사무소 1곳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F6A49-3F77-4BDD-919E-B5002DE0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46926-81EB-4F61-8773-D8AD2B39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623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관리 주택 최대 50채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40531-0A64-4AF7-BF20-81FE59CD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3EB74-BDE5-4689-9B7B-9319B959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625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임대인·임차인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6EF47-9BD9-499F-B8AA-272FB0CE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10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공인중개사무소는 결제 고객이자 도입 채널입니다</a:t>
            </a:r>
          </a:p>
        </p:txBody>
      </p:sp>
    </p:spTree>
    <p:extLst>
      <p:ext uri="{BB962C8B-B14F-4D97-AF65-F5344CB8AC3E}">
        <p14:creationId xmlns:p14="http://schemas.microsoft.com/office/powerpoint/2010/main" val="20714584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F18F5-9F1F-4020-ACC2-3F4C53E9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월 99,000원은 유료 파일럿에서 검증할 가격입니다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610C7-13B3-4CCF-9DE4-948E7BAD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89916-88B4-43A5-BFB8-74ABA71D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2E295-1FA7-4979-8FAF-8DB277A6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BUSINESS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51E11-F233-4C37-B962-F304BBFC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월 99,000원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2E6A3-1A88-4EFB-AD54-0D1EFAD3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사무소당 최대 50채 가정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661CE-6FC8-4FA2-939E-C781615D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집 1채당 월 1,980원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446FD-16C2-4ABF-B169-A2108EAB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66875"/>
            <a:ext cx="49530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54E4E-EA75-4917-BE80-08BE0071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가격을 판단할 네 가지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28C2B-4BC7-4A13-8526-98A25EEE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1. 실제 결제 여부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DEC1F-0AC6-4A85-814B-8A2B5AF0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2. 4주 후 계속 사용할 의사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1198F-70BE-49D2-97DA-EA7173DB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3. 사무소당 활성 집 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387CDA-37CD-4913-AD31-EFDB9595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4. 저장·알림·지원 비용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D81499-4B4C-417F-8A77-15669896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6197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현재 가격은 확정 요금이 아니라 검증 가설입니다</a:t>
            </a:r>
          </a:p>
        </p:txBody>
      </p:sp>
    </p:spTree>
    <p:extLst>
      <p:ext uri="{BB962C8B-B14F-4D97-AF65-F5344CB8AC3E}">
        <p14:creationId xmlns:p14="http://schemas.microsoft.com/office/powerpoint/2010/main" val="11194231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12144-8D20-43C5-8867-585496FB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사무소 20곳이면 월 구독매출은 198만원입니다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44280-0DCA-440E-86D4-DD19E4C9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09D16-AFF5-46D2-B4C1-ACFAF5E2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904875" y="1762125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ad3da575554f5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5E457-B53A-4B1C-B98F-B091DBFE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계산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AD037-B0CB-45F5-A11A-E0E2AF8C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812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99,000원 × 사무소 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863CA-73EA-49CE-A283-AA20A5C7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385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20곳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6DE02-13C8-4D58-B613-5B6537C1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671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월 1,980,000원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3F074-35C2-4FA3-BD94-51AAC616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43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연 23,760,000원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EE8A9-E4BB-4145-A570-08D4654B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할인·해지·세금·운영비 전 단순 시나리오</a:t>
            </a:r>
          </a:p>
        </p:txBody>
      </p:sp>
    </p:spTree>
    <p:extLst>
      <p:ext uri="{BB962C8B-B14F-4D97-AF65-F5344CB8AC3E}">
        <p14:creationId xmlns:p14="http://schemas.microsoft.com/office/powerpoint/2010/main" val="11758336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B984CB-43DA-4194-B0B9-D4FE0715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첫 검증은 공인중개사무소 3곳에서 4주간 진행합니다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0A6FE-BF1E-4B47-B562-220FF4A2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8AE56-B81A-49A9-8803-92B0D271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4CCF4-4572-4AB0-A9A5-D51185B8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1주차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0C0CB-D25D-4300-AD2F-02989684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실제 결제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A1BE8-9BE2-496B-AE69-03091D99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사무소·직원 등록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400A3-83FF-428F-A2A6-FCD3F78E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348BF-AED6-4F6F-985B-CE82FE42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2주차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5733E-9FCD-476F-BD8F-EB195D6F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집 등록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A5E4E-CEFB-4C18-8825-BD435F76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임대인·임차인 초대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2485-2E7E-4628-824A-EDAA29B8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8EE62-412C-4A77-A4F8-15D3AC12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14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3주차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0673B-3EF2-4363-9FE4-3520073A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383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실제 업무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6591E-4F84-40DB-B5DB-C7726658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98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매물·수리·입퇴거 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2E49D-6198-439B-9EC1-00975ACF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333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6DD07-5E18-4455-AC03-4D19E8E2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4주차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EF7E4-337F-48D6-8635-DEE9CBC8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재사용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03710-2AB5-49D4-9261-BF50D6EB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9875"/>
            <a:ext cx="238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재결제 의사와 운영비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F7DC3-EE81-4157-9508-4187FEBF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10382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02DF4-2D1A-4197-A575-BF21ADDB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243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측정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CABED9-B6F8-4F35-A7F2-7682CB70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4817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결제 전환 · 주간 사용 · 등록 집 수 · 관계자 참여 · 검색 시간 · 반복 연락 · 재방문 · 기록 재사용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F91B0E-463F-4AA9-89EB-E2712C94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호평보다 실제 결제와 반복 사용으로 판단합니다</a:t>
            </a:r>
          </a:p>
        </p:txBody>
      </p:sp>
    </p:spTree>
    <p:extLst>
      <p:ext uri="{BB962C8B-B14F-4D97-AF65-F5344CB8AC3E}">
        <p14:creationId xmlns:p14="http://schemas.microsoft.com/office/powerpoint/2010/main" val="16923468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E2180-5B41-4C92-9656-C2F140B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90일 동안 제품보다 결제와 재사용을 먼저 증명합니다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F8F71-E37D-4155-8841-D007C130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4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D9D05-99E9-44E1-88E7-26E83CDA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8787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6C360-5F96-4389-9CEB-0CB54D67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1–30일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58D5E-4D21-45BF-AA6C-4FCE0D3A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14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기준값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EB7BF-CE10-4E5D-A0A7-1E2F973D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현재 업무 시간과 반복 횟수 측정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93B54-06B1-44C0-ADE2-45ECB004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2245B-AC12-4EC2-B97B-15D5C651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31–60일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868BE-2643-42EA-9E40-84E0A380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유료 운영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4E46C-103C-4AA8-A868-F4B528C2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3개 사무소에서 실제 집과 사건 등록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42653-D0E2-4C98-976E-89D33617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9D38C-52BA-4588-BFF3-A45DDDFA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61–90일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E020E-48F4-455F-8A64-FADD9F72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사업 판단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3833F-52E5-4135-9FA0-4F29F174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재사용·재결제·지원비로 계속 여부 결정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B90DF-B557-454E-9C4B-7B96978A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E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07698-217B-4753-B6AE-DB6BDAB6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B55"/>
                </a:solidFill>
                <a:latin typeface="Helvetica Neue"/>
                <a:ea typeface="Helvetica Neue"/>
                <a:cs typeface="Helvetica Neue"/>
              </a:rPr>
              <a:t>계속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AD5B8A-EEA5-48D0-BB86-74BAE7F5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76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실제 결제와 기록 재사용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F7347-D8B9-42B7-8B13-7E08B66A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768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수정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9BE0D-C709-422B-A9CC-C9E4512E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76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사용은 있지만 결제가 약함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C0B96-5649-4B82-88E0-8A8C02B8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53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4E42"/>
                </a:solidFill>
                <a:latin typeface="Helvetica Neue"/>
                <a:ea typeface="Helvetica Neue"/>
                <a:cs typeface="Helvetica Neue"/>
              </a:rPr>
              <a:t>중단 검토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D7081-B719-40C8-B00B-871AD8AD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953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결제도 재사용도 없음</a:t>
            </a:r>
          </a:p>
        </p:txBody>
      </p:sp>
    </p:spTree>
    <p:extLst>
      <p:ext uri="{BB962C8B-B14F-4D97-AF65-F5344CB8AC3E}">
        <p14:creationId xmlns:p14="http://schemas.microsoft.com/office/powerpoint/2010/main" val="11277242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E44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21280fe93749a8"/>
          <a:stretch xmlns:a="http://schemas.openxmlformats.org/drawingml/2006/main"/>
        </p:blipFill>
        <p:spPr>
          <a:xfrm xmlns:a="http://schemas.openxmlformats.org/drawingml/2006/main">
            <a:off x="633413" y="523875"/>
            <a:ext cx="657225" cy="571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3A6C5-19C2-4C6B-B914-9C1B489F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집신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D7BEA-5743-409E-81BC-6B8695ED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8382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집에 관한 기록과 업무가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사람이 바뀌어도 이어지는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17F33-3446-4D6D-8956-0DC3DD00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공인중개사무소가 시작하고 임대인과 임차인이 함께 사용합니다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D96C8-6E27-4814-B010-1F00B5D3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57275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7F1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A253C-48EE-4400-9D33-34523108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89432"/>
                </a:solidFill>
                <a:latin typeface="Helvetica Neue"/>
                <a:ea typeface="Helvetica Neue"/>
                <a:cs typeface="Helvetica Neue"/>
              </a:rPr>
              <a:t>다음 단계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DA031-82FC-4C7B-8C72-AC5D0F38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7205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32C"/>
                </a:solidFill>
                <a:latin typeface="Helvetica Neue"/>
                <a:ea typeface="Helvetica Neue"/>
                <a:cs typeface="Helvetica Neue"/>
              </a:rPr>
              <a:t>MVP 범위 승인 후 공인중개사무소 3곳의 유료 파일럿을 준비합니다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F466C-E4D6-4D45-93FA-07A47A64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54517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2026-10-02T06:33:18.6170000Z</dcterms:created>
  <dcterms:modified xsi:type="dcterms:W3CDTF">2026-10-02T06:33:18.6170000Z</dcterms:modified>
</coreProperties>
</file>